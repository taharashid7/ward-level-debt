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5CE5FF-7644-3644-BAD8-4F7A698FE03B}" v="1" dt="2026-03-18T19:22:59.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ha Bin Rashid" userId="f580379b-fb40-49f6-aed8-72e1e1434890" providerId="ADAL" clId="{72D3E597-00A9-5D27-B182-D2599361E336}"/>
    <pc:docChg chg="undo redo custSel modSld">
      <pc:chgData name="Taha Bin Rashid" userId="f580379b-fb40-49f6-aed8-72e1e1434890" providerId="ADAL" clId="{72D3E597-00A9-5D27-B182-D2599361E336}" dt="2026-03-18T19:49:26.909" v="57" actId="1076"/>
      <pc:docMkLst>
        <pc:docMk/>
      </pc:docMkLst>
      <pc:sldChg chg="modSp mod">
        <pc:chgData name="Taha Bin Rashid" userId="f580379b-fb40-49f6-aed8-72e1e1434890" providerId="ADAL" clId="{72D3E597-00A9-5D27-B182-D2599361E336}" dt="2026-03-18T19:44:29.015" v="47" actId="403"/>
        <pc:sldMkLst>
          <pc:docMk/>
          <pc:sldMk cId="0" sldId="256"/>
        </pc:sldMkLst>
        <pc:spChg chg="mod">
          <ac:chgData name="Taha Bin Rashid" userId="f580379b-fb40-49f6-aed8-72e1e1434890" providerId="ADAL" clId="{72D3E597-00A9-5D27-B182-D2599361E336}" dt="2026-03-18T19:44:29.015" v="47" actId="403"/>
          <ac:spMkLst>
            <pc:docMk/>
            <pc:sldMk cId="0" sldId="256"/>
            <ac:spMk id="2"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3"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4"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5"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6"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7"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8" creationId="{00000000-0000-0000-0000-000000000000}"/>
          </ac:spMkLst>
        </pc:spChg>
        <pc:spChg chg="mod">
          <ac:chgData name="Taha Bin Rashid" userId="f580379b-fb40-49f6-aed8-72e1e1434890" providerId="ADAL" clId="{72D3E597-00A9-5D27-B182-D2599361E336}" dt="2026-03-18T19:44:29.015" v="47" actId="403"/>
          <ac:spMkLst>
            <pc:docMk/>
            <pc:sldMk cId="0" sldId="256"/>
            <ac:spMk id="9" creationId="{00000000-0000-0000-0000-000000000000}"/>
          </ac:spMkLst>
        </pc:spChg>
      </pc:sldChg>
      <pc:sldChg chg="modSp mod">
        <pc:chgData name="Taha Bin Rashid" userId="f580379b-fb40-49f6-aed8-72e1e1434890" providerId="ADAL" clId="{72D3E597-00A9-5D27-B182-D2599361E336}" dt="2026-03-18T19:42:56.545" v="34" actId="403"/>
        <pc:sldMkLst>
          <pc:docMk/>
          <pc:sldMk cId="0" sldId="257"/>
        </pc:sldMkLst>
        <pc:spChg chg="mod">
          <ac:chgData name="Taha Bin Rashid" userId="f580379b-fb40-49f6-aed8-72e1e1434890" providerId="ADAL" clId="{72D3E597-00A9-5D27-B182-D2599361E336}" dt="2026-03-18T19:42:56.545" v="34" actId="403"/>
          <ac:spMkLst>
            <pc:docMk/>
            <pc:sldMk cId="0" sldId="257"/>
            <ac:spMk id="6"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11"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14"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16"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19"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21"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24"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25"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29" creationId="{00000000-0000-0000-0000-000000000000}"/>
          </ac:spMkLst>
        </pc:spChg>
        <pc:spChg chg="mod">
          <ac:chgData name="Taha Bin Rashid" userId="f580379b-fb40-49f6-aed8-72e1e1434890" providerId="ADAL" clId="{72D3E597-00A9-5D27-B182-D2599361E336}" dt="2026-03-18T19:42:56.545" v="34" actId="403"/>
          <ac:spMkLst>
            <pc:docMk/>
            <pc:sldMk cId="0" sldId="257"/>
            <ac:spMk id="32" creationId="{00000000-0000-0000-0000-000000000000}"/>
          </ac:spMkLst>
        </pc:spChg>
      </pc:sldChg>
      <pc:sldChg chg="modSp mod">
        <pc:chgData name="Taha Bin Rashid" userId="f580379b-fb40-49f6-aed8-72e1e1434890" providerId="ADAL" clId="{72D3E597-00A9-5D27-B182-D2599361E336}" dt="2026-03-18T19:43:09.275" v="35" actId="403"/>
        <pc:sldMkLst>
          <pc:docMk/>
          <pc:sldMk cId="0" sldId="258"/>
        </pc:sldMkLst>
        <pc:spChg chg="mod">
          <ac:chgData name="Taha Bin Rashid" userId="f580379b-fb40-49f6-aed8-72e1e1434890" providerId="ADAL" clId="{72D3E597-00A9-5D27-B182-D2599361E336}" dt="2026-03-18T19:43:09.275" v="35" actId="403"/>
          <ac:spMkLst>
            <pc:docMk/>
            <pc:sldMk cId="0" sldId="258"/>
            <ac:spMk id="7"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8"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13"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15"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19"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22"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23"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25"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26" creationId="{00000000-0000-0000-0000-000000000000}"/>
          </ac:spMkLst>
        </pc:spChg>
        <pc:spChg chg="mod">
          <ac:chgData name="Taha Bin Rashid" userId="f580379b-fb40-49f6-aed8-72e1e1434890" providerId="ADAL" clId="{72D3E597-00A9-5D27-B182-D2599361E336}" dt="2026-03-18T19:43:09.275" v="35" actId="403"/>
          <ac:spMkLst>
            <pc:docMk/>
            <pc:sldMk cId="0" sldId="258"/>
            <ac:spMk id="29" creationId="{00000000-0000-0000-0000-000000000000}"/>
          </ac:spMkLst>
        </pc:spChg>
      </pc:sldChg>
      <pc:sldChg chg="modSp mod">
        <pc:chgData name="Taha Bin Rashid" userId="f580379b-fb40-49f6-aed8-72e1e1434890" providerId="ADAL" clId="{72D3E597-00A9-5D27-B182-D2599361E336}" dt="2026-03-18T19:43:18.062" v="36" actId="403"/>
        <pc:sldMkLst>
          <pc:docMk/>
          <pc:sldMk cId="0" sldId="259"/>
        </pc:sldMkLst>
        <pc:spChg chg="mod">
          <ac:chgData name="Taha Bin Rashid" userId="f580379b-fb40-49f6-aed8-72e1e1434890" providerId="ADAL" clId="{72D3E597-00A9-5D27-B182-D2599361E336}" dt="2026-03-18T19:43:18.062" v="36" actId="403"/>
          <ac:spMkLst>
            <pc:docMk/>
            <pc:sldMk cId="0" sldId="259"/>
            <ac:spMk id="4"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7"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14"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17"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24"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27"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30"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37"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40" creationId="{00000000-0000-0000-0000-000000000000}"/>
          </ac:spMkLst>
        </pc:spChg>
        <pc:spChg chg="mod">
          <ac:chgData name="Taha Bin Rashid" userId="f580379b-fb40-49f6-aed8-72e1e1434890" providerId="ADAL" clId="{72D3E597-00A9-5D27-B182-D2599361E336}" dt="2026-03-18T19:43:18.062" v="36" actId="403"/>
          <ac:spMkLst>
            <pc:docMk/>
            <pc:sldMk cId="0" sldId="259"/>
            <ac:spMk id="43" creationId="{00000000-0000-0000-0000-000000000000}"/>
          </ac:spMkLst>
        </pc:spChg>
      </pc:sldChg>
      <pc:sldChg chg="modSp mod">
        <pc:chgData name="Taha Bin Rashid" userId="f580379b-fb40-49f6-aed8-72e1e1434890" providerId="ADAL" clId="{72D3E597-00A9-5D27-B182-D2599361E336}" dt="2026-03-18T19:43:28.020" v="37" actId="403"/>
        <pc:sldMkLst>
          <pc:docMk/>
          <pc:sldMk cId="0" sldId="260"/>
        </pc:sldMkLst>
        <pc:spChg chg="mod">
          <ac:chgData name="Taha Bin Rashid" userId="f580379b-fb40-49f6-aed8-72e1e1434890" providerId="ADAL" clId="{72D3E597-00A9-5D27-B182-D2599361E336}" dt="2026-03-18T19:43:28.020" v="37" actId="403"/>
          <ac:spMkLst>
            <pc:docMk/>
            <pc:sldMk cId="0" sldId="260"/>
            <ac:spMk id="3"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6"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7"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10"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13"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16"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17"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18"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21" creationId="{00000000-0000-0000-0000-000000000000}"/>
          </ac:spMkLst>
        </pc:spChg>
        <pc:spChg chg="mod">
          <ac:chgData name="Taha Bin Rashid" userId="f580379b-fb40-49f6-aed8-72e1e1434890" providerId="ADAL" clId="{72D3E597-00A9-5D27-B182-D2599361E336}" dt="2026-03-18T19:43:28.020" v="37" actId="403"/>
          <ac:spMkLst>
            <pc:docMk/>
            <pc:sldMk cId="0" sldId="260"/>
            <ac:spMk id="24" creationId="{00000000-0000-0000-0000-000000000000}"/>
          </ac:spMkLst>
        </pc:spChg>
      </pc:sldChg>
      <pc:sldChg chg="delSp modSp mod">
        <pc:chgData name="Taha Bin Rashid" userId="f580379b-fb40-49f6-aed8-72e1e1434890" providerId="ADAL" clId="{72D3E597-00A9-5D27-B182-D2599361E336}" dt="2026-03-18T19:47:21.187" v="53" actId="478"/>
        <pc:sldMkLst>
          <pc:docMk/>
          <pc:sldMk cId="0" sldId="261"/>
        </pc:sldMkLst>
        <pc:spChg chg="mod">
          <ac:chgData name="Taha Bin Rashid" userId="f580379b-fb40-49f6-aed8-72e1e1434890" providerId="ADAL" clId="{72D3E597-00A9-5D27-B182-D2599361E336}" dt="2026-03-18T19:43:37.560" v="38" actId="403"/>
          <ac:spMkLst>
            <pc:docMk/>
            <pc:sldMk cId="0" sldId="261"/>
            <ac:spMk id="2"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5"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9"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12" creationId="{00000000-0000-0000-0000-000000000000}"/>
          </ac:spMkLst>
        </pc:spChg>
        <pc:spChg chg="del">
          <ac:chgData name="Taha Bin Rashid" userId="f580379b-fb40-49f6-aed8-72e1e1434890" providerId="ADAL" clId="{72D3E597-00A9-5D27-B182-D2599361E336}" dt="2026-03-18T19:47:13.675" v="50" actId="478"/>
          <ac:spMkLst>
            <pc:docMk/>
            <pc:sldMk cId="0" sldId="261"/>
            <ac:spMk id="13" creationId="{00000000-0000-0000-0000-000000000000}"/>
          </ac:spMkLst>
        </pc:spChg>
        <pc:spChg chg="del mod">
          <ac:chgData name="Taha Bin Rashid" userId="f580379b-fb40-49f6-aed8-72e1e1434890" providerId="ADAL" clId="{72D3E597-00A9-5D27-B182-D2599361E336}" dt="2026-03-18T19:47:12.299" v="49" actId="478"/>
          <ac:spMkLst>
            <pc:docMk/>
            <pc:sldMk cId="0" sldId="261"/>
            <ac:spMk id="14"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15" creationId="{00000000-0000-0000-0000-000000000000}"/>
          </ac:spMkLst>
        </pc:spChg>
        <pc:spChg chg="del">
          <ac:chgData name="Taha Bin Rashid" userId="f580379b-fb40-49f6-aed8-72e1e1434890" providerId="ADAL" clId="{72D3E597-00A9-5D27-B182-D2599361E336}" dt="2026-03-18T19:47:16.413" v="51" actId="478"/>
          <ac:spMkLst>
            <pc:docMk/>
            <pc:sldMk cId="0" sldId="261"/>
            <ac:spMk id="21"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22"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25" creationId="{00000000-0000-0000-0000-000000000000}"/>
          </ac:spMkLst>
        </pc:spChg>
        <pc:spChg chg="del">
          <ac:chgData name="Taha Bin Rashid" userId="f580379b-fb40-49f6-aed8-72e1e1434890" providerId="ADAL" clId="{72D3E597-00A9-5D27-B182-D2599361E336}" dt="2026-03-18T19:47:21.187" v="53" actId="478"/>
          <ac:spMkLst>
            <pc:docMk/>
            <pc:sldMk cId="0" sldId="261"/>
            <ac:spMk id="29"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33"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36" creationId="{00000000-0000-0000-0000-000000000000}"/>
          </ac:spMkLst>
        </pc:spChg>
        <pc:spChg chg="del">
          <ac:chgData name="Taha Bin Rashid" userId="f580379b-fb40-49f6-aed8-72e1e1434890" providerId="ADAL" clId="{72D3E597-00A9-5D27-B182-D2599361E336}" dt="2026-03-18T19:47:19.579" v="52" actId="478"/>
          <ac:spMkLst>
            <pc:docMk/>
            <pc:sldMk cId="0" sldId="261"/>
            <ac:spMk id="37" creationId="{00000000-0000-0000-0000-000000000000}"/>
          </ac:spMkLst>
        </pc:spChg>
        <pc:spChg chg="mod">
          <ac:chgData name="Taha Bin Rashid" userId="f580379b-fb40-49f6-aed8-72e1e1434890" providerId="ADAL" clId="{72D3E597-00A9-5D27-B182-D2599361E336}" dt="2026-03-18T19:43:37.560" v="38" actId="403"/>
          <ac:spMkLst>
            <pc:docMk/>
            <pc:sldMk cId="0" sldId="261"/>
            <ac:spMk id="39" creationId="{00000000-0000-0000-0000-000000000000}"/>
          </ac:spMkLst>
        </pc:spChg>
      </pc:sldChg>
      <pc:sldChg chg="modSp mod">
        <pc:chgData name="Taha Bin Rashid" userId="f580379b-fb40-49f6-aed8-72e1e1434890" providerId="ADAL" clId="{72D3E597-00A9-5D27-B182-D2599361E336}" dt="2026-03-18T19:43:43.870" v="39" actId="403"/>
        <pc:sldMkLst>
          <pc:docMk/>
          <pc:sldMk cId="0" sldId="262"/>
        </pc:sldMkLst>
        <pc:spChg chg="mod">
          <ac:chgData name="Taha Bin Rashid" userId="f580379b-fb40-49f6-aed8-72e1e1434890" providerId="ADAL" clId="{72D3E597-00A9-5D27-B182-D2599361E336}" dt="2026-03-18T19:43:43.870" v="39" actId="403"/>
          <ac:spMkLst>
            <pc:docMk/>
            <pc:sldMk cId="0" sldId="262"/>
            <ac:spMk id="5"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6"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7"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8"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9"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10"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11"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19"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20" creationId="{00000000-0000-0000-0000-000000000000}"/>
          </ac:spMkLst>
        </pc:spChg>
        <pc:spChg chg="mod">
          <ac:chgData name="Taha Bin Rashid" userId="f580379b-fb40-49f6-aed8-72e1e1434890" providerId="ADAL" clId="{72D3E597-00A9-5D27-B182-D2599361E336}" dt="2026-03-18T19:43:43.870" v="39" actId="403"/>
          <ac:spMkLst>
            <pc:docMk/>
            <pc:sldMk cId="0" sldId="262"/>
            <ac:spMk id="21" creationId="{00000000-0000-0000-0000-000000000000}"/>
          </ac:spMkLst>
        </pc:spChg>
      </pc:sldChg>
      <pc:sldChg chg="modSp mod">
        <pc:chgData name="Taha Bin Rashid" userId="f580379b-fb40-49f6-aed8-72e1e1434890" providerId="ADAL" clId="{72D3E597-00A9-5D27-B182-D2599361E336}" dt="2026-03-18T19:49:26.909" v="57" actId="1076"/>
        <pc:sldMkLst>
          <pc:docMk/>
          <pc:sldMk cId="0" sldId="263"/>
        </pc:sldMkLst>
        <pc:spChg chg="mod">
          <ac:chgData name="Taha Bin Rashid" userId="f580379b-fb40-49f6-aed8-72e1e1434890" providerId="ADAL" clId="{72D3E597-00A9-5D27-B182-D2599361E336}" dt="2026-03-18T19:44:03.632" v="44" actId="403"/>
          <ac:spMkLst>
            <pc:docMk/>
            <pc:sldMk cId="0" sldId="263"/>
            <ac:spMk id="6"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9"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12" creationId="{00000000-0000-0000-0000-000000000000}"/>
          </ac:spMkLst>
        </pc:spChg>
        <pc:spChg chg="mod">
          <ac:chgData name="Taha Bin Rashid" userId="f580379b-fb40-49f6-aed8-72e1e1434890" providerId="ADAL" clId="{72D3E597-00A9-5D27-B182-D2599361E336}" dt="2026-03-18T19:49:20.977" v="56" actId="1076"/>
          <ac:spMkLst>
            <pc:docMk/>
            <pc:sldMk cId="0" sldId="263"/>
            <ac:spMk id="18" creationId="{00000000-0000-0000-0000-000000000000}"/>
          </ac:spMkLst>
        </pc:spChg>
        <pc:spChg chg="mod">
          <ac:chgData name="Taha Bin Rashid" userId="f580379b-fb40-49f6-aed8-72e1e1434890" providerId="ADAL" clId="{72D3E597-00A9-5D27-B182-D2599361E336}" dt="2026-03-18T19:49:26.909" v="57" actId="1076"/>
          <ac:spMkLst>
            <pc:docMk/>
            <pc:sldMk cId="0" sldId="263"/>
            <ac:spMk id="19"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22"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25"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29"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32"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35" creationId="{00000000-0000-0000-0000-000000000000}"/>
          </ac:spMkLst>
        </pc:spChg>
        <pc:spChg chg="mod">
          <ac:chgData name="Taha Bin Rashid" userId="f580379b-fb40-49f6-aed8-72e1e1434890" providerId="ADAL" clId="{72D3E597-00A9-5D27-B182-D2599361E336}" dt="2026-03-18T19:44:03.632" v="44" actId="403"/>
          <ac:spMkLst>
            <pc:docMk/>
            <pc:sldMk cId="0" sldId="263"/>
            <ac:spMk id="39" creationId="{00000000-0000-0000-0000-000000000000}"/>
          </ac:spMkLst>
        </pc:spChg>
      </pc:sldChg>
      <pc:sldChg chg="modSp mod">
        <pc:chgData name="Taha Bin Rashid" userId="f580379b-fb40-49f6-aed8-72e1e1434890" providerId="ADAL" clId="{72D3E597-00A9-5D27-B182-D2599361E336}" dt="2026-03-18T19:44:12.355" v="45" actId="403"/>
        <pc:sldMkLst>
          <pc:docMk/>
          <pc:sldMk cId="0" sldId="264"/>
        </pc:sldMkLst>
        <pc:spChg chg="mod">
          <ac:chgData name="Taha Bin Rashid" userId="f580379b-fb40-49f6-aed8-72e1e1434890" providerId="ADAL" clId="{72D3E597-00A9-5D27-B182-D2599361E336}" dt="2026-03-18T19:44:12.355" v="45" actId="403"/>
          <ac:spMkLst>
            <pc:docMk/>
            <pc:sldMk cId="0" sldId="264"/>
            <ac:spMk id="5"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8"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12"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14"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17" creationId="{00000000-0000-0000-0000-000000000000}"/>
          </ac:spMkLst>
        </pc:spChg>
        <pc:spChg chg="mod">
          <ac:chgData name="Taha Bin Rashid" userId="f580379b-fb40-49f6-aed8-72e1e1434890" providerId="ADAL" clId="{72D3E597-00A9-5D27-B182-D2599361E336}" dt="2026-03-09T17:12:16.629" v="32" actId="207"/>
          <ac:spMkLst>
            <pc:docMk/>
            <pc:sldMk cId="0" sldId="264"/>
            <ac:spMk id="18"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19"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22" creationId="{00000000-0000-0000-0000-000000000000}"/>
          </ac:spMkLst>
        </pc:spChg>
        <pc:spChg chg="mod">
          <ac:chgData name="Taha Bin Rashid" userId="f580379b-fb40-49f6-aed8-72e1e1434890" providerId="ADAL" clId="{72D3E597-00A9-5D27-B182-D2599361E336}" dt="2026-03-09T17:12:13.661" v="31" actId="207"/>
          <ac:spMkLst>
            <pc:docMk/>
            <pc:sldMk cId="0" sldId="264"/>
            <ac:spMk id="24"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28"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30" creationId="{00000000-0000-0000-0000-000000000000}"/>
          </ac:spMkLst>
        </pc:spChg>
        <pc:spChg chg="mod">
          <ac:chgData name="Taha Bin Rashid" userId="f580379b-fb40-49f6-aed8-72e1e1434890" providerId="ADAL" clId="{72D3E597-00A9-5D27-B182-D2599361E336}" dt="2026-03-18T19:44:12.355" v="45" actId="403"/>
          <ac:spMkLst>
            <pc:docMk/>
            <pc:sldMk cId="0" sldId="264"/>
            <ac:spMk id="33" creationId="{00000000-0000-0000-0000-000000000000}"/>
          </ac:spMkLst>
        </pc:spChg>
      </pc:sldChg>
      <pc:sldChg chg="modSp mod">
        <pc:chgData name="Taha Bin Rashid" userId="f580379b-fb40-49f6-aed8-72e1e1434890" providerId="ADAL" clId="{72D3E597-00A9-5D27-B182-D2599361E336}" dt="2026-03-18T19:44:21.186" v="46" actId="403"/>
        <pc:sldMkLst>
          <pc:docMk/>
          <pc:sldMk cId="0" sldId="265"/>
        </pc:sldMkLst>
        <pc:spChg chg="mod">
          <ac:chgData name="Taha Bin Rashid" userId="f580379b-fb40-49f6-aed8-72e1e1434890" providerId="ADAL" clId="{72D3E597-00A9-5D27-B182-D2599361E336}" dt="2026-03-18T19:44:21.186" v="46" actId="403"/>
          <ac:spMkLst>
            <pc:docMk/>
            <pc:sldMk cId="0" sldId="265"/>
            <ac:spMk id="2"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3"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4"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5"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6"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7"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8"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9"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11" creationId="{00000000-0000-0000-0000-000000000000}"/>
          </ac:spMkLst>
        </pc:spChg>
        <pc:spChg chg="mod">
          <ac:chgData name="Taha Bin Rashid" userId="f580379b-fb40-49f6-aed8-72e1e1434890" providerId="ADAL" clId="{72D3E597-00A9-5D27-B182-D2599361E336}" dt="2026-03-18T19:44:21.186" v="46" actId="403"/>
          <ac:spMkLst>
            <pc:docMk/>
            <pc:sldMk cId="0" sldId="265"/>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59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wardleveldebt.streamlit.ap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11C33"/>
          </a:solidFill>
          <a:ln w="12700">
            <a:solidFill>
              <a:srgbClr val="111C33"/>
            </a:solidFill>
            <a:prstDash val="solid"/>
          </a:ln>
        </p:spPr>
        <p:txBody>
          <a:bodyPr/>
          <a:lstStyle/>
          <a:p>
            <a:endParaRPr lang="en-US" sz="2000"/>
          </a:p>
        </p:txBody>
      </p:sp>
      <p:sp>
        <p:nvSpPr>
          <p:cNvPr id="3" name="Shape 1"/>
          <p:cNvSpPr/>
          <p:nvPr/>
        </p:nvSpPr>
        <p:spPr>
          <a:xfrm>
            <a:off x="0" y="0"/>
            <a:ext cx="9144000" cy="73152"/>
          </a:xfrm>
          <a:prstGeom prst="rect">
            <a:avLst/>
          </a:prstGeom>
          <a:solidFill>
            <a:srgbClr val="2E75B6"/>
          </a:solidFill>
          <a:ln w="12700">
            <a:solidFill>
              <a:srgbClr val="2E75B6"/>
            </a:solidFill>
            <a:prstDash val="solid"/>
          </a:ln>
        </p:spPr>
        <p:txBody>
          <a:bodyPr/>
          <a:lstStyle/>
          <a:p>
            <a:endParaRPr lang="en-US" sz="2000"/>
          </a:p>
        </p:txBody>
      </p:sp>
      <p:sp>
        <p:nvSpPr>
          <p:cNvPr id="4" name="Text 2"/>
          <p:cNvSpPr/>
          <p:nvPr/>
        </p:nvSpPr>
        <p:spPr>
          <a:xfrm>
            <a:off x="548640" y="201168"/>
            <a:ext cx="8046720" cy="274320"/>
          </a:xfrm>
          <a:prstGeom prst="rect">
            <a:avLst/>
          </a:prstGeom>
          <a:noFill/>
          <a:ln/>
        </p:spPr>
        <p:txBody>
          <a:bodyPr wrap="square" rtlCol="0" anchor="ctr"/>
          <a:lstStyle/>
          <a:p>
            <a:pPr marL="0" indent="0">
              <a:buNone/>
            </a:pPr>
            <a:r>
              <a:rPr lang="en-US" sz="900" kern="0" spc="200" dirty="0">
                <a:solidFill>
                  <a:srgbClr val="8FA7CC"/>
                </a:solidFill>
                <a:latin typeface="Calibri" pitchFamily="34" charset="0"/>
                <a:ea typeface="Calibri" pitchFamily="34" charset="-122"/>
                <a:cs typeface="Calibri" pitchFamily="34" charset="-120"/>
              </a:rPr>
              <a:t>CITY OF CHICAGO  ·  OFFICE OF THE MAYOR</a:t>
            </a:r>
            <a:endParaRPr lang="en-US" sz="900" dirty="0"/>
          </a:p>
        </p:txBody>
      </p:sp>
      <p:sp>
        <p:nvSpPr>
          <p:cNvPr id="5" name="Text 3"/>
          <p:cNvSpPr/>
          <p:nvPr/>
        </p:nvSpPr>
        <p:spPr>
          <a:xfrm>
            <a:off x="548640" y="640080"/>
            <a:ext cx="7315200" cy="1737360"/>
          </a:xfrm>
          <a:prstGeom prst="rect">
            <a:avLst/>
          </a:prstGeom>
          <a:noFill/>
          <a:ln/>
        </p:spPr>
        <p:txBody>
          <a:bodyPr wrap="square" rtlCol="0" anchor="ctr"/>
          <a:lstStyle/>
          <a:p>
            <a:pPr marL="0" indent="0">
              <a:lnSpc>
                <a:spcPct val="100000"/>
              </a:lnSpc>
              <a:buNone/>
            </a:pPr>
            <a:r>
              <a:rPr lang="en-US" sz="5400" b="1" dirty="0">
                <a:solidFill>
                  <a:srgbClr val="FFFFFF"/>
                </a:solidFill>
                <a:latin typeface="Calibri" pitchFamily="34" charset="0"/>
                <a:ea typeface="Calibri" pitchFamily="34" charset="-122"/>
                <a:cs typeface="Calibri" pitchFamily="34" charset="-120"/>
              </a:rPr>
              <a:t>The Cycle of</a:t>
            </a:r>
            <a:endParaRPr lang="en-US" sz="5400" dirty="0"/>
          </a:p>
          <a:p>
            <a:pPr marL="0" indent="0">
              <a:lnSpc>
                <a:spcPct val="100000"/>
              </a:lnSpc>
              <a:buNone/>
            </a:pPr>
            <a:r>
              <a:rPr lang="en-US" sz="5400" b="1" dirty="0">
                <a:solidFill>
                  <a:srgbClr val="FFFFFF"/>
                </a:solidFill>
                <a:latin typeface="Calibri" pitchFamily="34" charset="0"/>
                <a:ea typeface="Calibri" pitchFamily="34" charset="-122"/>
                <a:cs typeface="Calibri" pitchFamily="34" charset="-120"/>
              </a:rPr>
              <a:t>Disinvestment</a:t>
            </a:r>
            <a:endParaRPr lang="en-US" sz="5400" dirty="0"/>
          </a:p>
        </p:txBody>
      </p:sp>
      <p:sp>
        <p:nvSpPr>
          <p:cNvPr id="6" name="Text 4"/>
          <p:cNvSpPr/>
          <p:nvPr/>
        </p:nvSpPr>
        <p:spPr>
          <a:xfrm>
            <a:off x="548640" y="2423160"/>
            <a:ext cx="7315200" cy="457200"/>
          </a:xfrm>
          <a:prstGeom prst="rect">
            <a:avLst/>
          </a:prstGeom>
          <a:noFill/>
          <a:ln/>
        </p:spPr>
        <p:txBody>
          <a:bodyPr wrap="square" rtlCol="0" anchor="ctr"/>
          <a:lstStyle/>
          <a:p>
            <a:pPr marL="0" indent="0">
              <a:buNone/>
            </a:pPr>
            <a:r>
              <a:rPr lang="en-US" sz="2000" i="1" dirty="0">
                <a:solidFill>
                  <a:srgbClr val="BDD7EE"/>
                </a:solidFill>
                <a:latin typeface="Calibri" pitchFamily="34" charset="0"/>
                <a:ea typeface="Calibri" pitchFamily="34" charset="-122"/>
                <a:cs typeface="Calibri" pitchFamily="34" charset="-120"/>
              </a:rPr>
              <a:t>Turning Property Distress into Policy Opportunity</a:t>
            </a:r>
            <a:endParaRPr lang="en-US" sz="2000" dirty="0"/>
          </a:p>
        </p:txBody>
      </p:sp>
      <p:sp>
        <p:nvSpPr>
          <p:cNvPr id="7" name="Shape 5"/>
          <p:cNvSpPr/>
          <p:nvPr/>
        </p:nvSpPr>
        <p:spPr>
          <a:xfrm>
            <a:off x="548640" y="2971800"/>
            <a:ext cx="1280160" cy="45720"/>
          </a:xfrm>
          <a:prstGeom prst="rect">
            <a:avLst/>
          </a:prstGeom>
          <a:solidFill>
            <a:srgbClr val="2E75B6"/>
          </a:solidFill>
          <a:ln w="12700">
            <a:solidFill>
              <a:srgbClr val="2E75B6"/>
            </a:solidFill>
            <a:prstDash val="solid"/>
          </a:ln>
        </p:spPr>
        <p:txBody>
          <a:bodyPr/>
          <a:lstStyle/>
          <a:p>
            <a:endParaRPr lang="en-US" sz="2000"/>
          </a:p>
        </p:txBody>
      </p:sp>
      <p:sp>
        <p:nvSpPr>
          <p:cNvPr id="8" name="Text 6"/>
          <p:cNvSpPr/>
          <p:nvPr/>
        </p:nvSpPr>
        <p:spPr>
          <a:xfrm>
            <a:off x="548640" y="3108960"/>
            <a:ext cx="6858000" cy="822960"/>
          </a:xfrm>
          <a:prstGeom prst="rect">
            <a:avLst/>
          </a:prstGeom>
          <a:noFill/>
          <a:ln/>
        </p:spPr>
        <p:txBody>
          <a:bodyPr wrap="square" rtlCol="0" anchor="ctr"/>
          <a:lstStyle/>
          <a:p>
            <a:pPr marL="0" indent="0">
              <a:lnSpc>
                <a:spcPct val="140000"/>
              </a:lnSpc>
              <a:buNone/>
            </a:pPr>
            <a:r>
              <a:rPr lang="en-US" sz="1200" dirty="0">
                <a:solidFill>
                  <a:srgbClr val="B8C8DC"/>
                </a:solidFill>
                <a:latin typeface="Calibri" pitchFamily="34" charset="0"/>
                <a:ea typeface="Calibri" pitchFamily="34" charset="-122"/>
                <a:cs typeface="Calibri" pitchFamily="34" charset="-120"/>
              </a:rPr>
              <a:t>A data-driven framework to identify housing vulnerability and early warning signals of neighborhood decline across Chicago's most at-risk wards.</a:t>
            </a:r>
            <a:endParaRPr lang="en-US" sz="1200" dirty="0"/>
          </a:p>
        </p:txBody>
      </p:sp>
      <p:sp>
        <p:nvSpPr>
          <p:cNvPr id="9" name="Text 7"/>
          <p:cNvSpPr/>
          <p:nvPr/>
        </p:nvSpPr>
        <p:spPr>
          <a:xfrm>
            <a:off x="548640" y="4251960"/>
            <a:ext cx="2743200" cy="274320"/>
          </a:xfrm>
          <a:prstGeom prst="rect">
            <a:avLst/>
          </a:prstGeom>
          <a:noFill/>
          <a:ln/>
        </p:spPr>
        <p:txBody>
          <a:bodyPr wrap="square" rtlCol="0" anchor="ctr"/>
          <a:lstStyle/>
          <a:p>
            <a:pPr marL="0" indent="0">
              <a:buNone/>
            </a:pPr>
            <a:r>
              <a:rPr lang="en-US" sz="1000" kern="0" spc="200" dirty="0">
                <a:solidFill>
                  <a:srgbClr val="6080A8"/>
                </a:solidFill>
                <a:latin typeface="Calibri" pitchFamily="34" charset="0"/>
                <a:ea typeface="Calibri" pitchFamily="34" charset="-122"/>
                <a:cs typeface="Calibri" pitchFamily="34" charset="-120"/>
              </a:rPr>
              <a:t>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AGENDA</a:t>
            </a:r>
            <a:endParaRPr lang="en-US" sz="1050" dirty="0"/>
          </a:p>
        </p:txBody>
      </p:sp>
      <p:sp>
        <p:nvSpPr>
          <p:cNvPr id="4" name="Shape 2"/>
          <p:cNvSpPr/>
          <p:nvPr/>
        </p:nvSpPr>
        <p:spPr>
          <a:xfrm>
            <a:off x="457200" y="77724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5" name="Shape 3"/>
          <p:cNvSpPr/>
          <p:nvPr/>
        </p:nvSpPr>
        <p:spPr>
          <a:xfrm>
            <a:off x="457200" y="77724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6" name="Text 4"/>
          <p:cNvSpPr/>
          <p:nvPr/>
        </p:nvSpPr>
        <p:spPr>
          <a:xfrm>
            <a:off x="594360" y="85039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01</a:t>
            </a:r>
            <a:endParaRPr lang="en-US" sz="2400" dirty="0"/>
          </a:p>
        </p:txBody>
      </p:sp>
      <p:sp>
        <p:nvSpPr>
          <p:cNvPr id="7" name="Text 5"/>
          <p:cNvSpPr/>
          <p:nvPr/>
        </p:nvSpPr>
        <p:spPr>
          <a:xfrm>
            <a:off x="1051560" y="86868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Motivations</a:t>
            </a:r>
            <a:endParaRPr lang="en-US" sz="1400" dirty="0"/>
          </a:p>
        </p:txBody>
      </p:sp>
      <p:sp>
        <p:nvSpPr>
          <p:cNvPr id="8" name="Text 6"/>
          <p:cNvSpPr/>
          <p:nvPr/>
        </p:nvSpPr>
        <p:spPr>
          <a:xfrm>
            <a:off x="594360" y="125272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Why Chicago's property abandonment cycle is a policy failure, not a market failure</a:t>
            </a:r>
            <a:endParaRPr lang="en-US" sz="1000" dirty="0"/>
          </a:p>
        </p:txBody>
      </p:sp>
      <p:sp>
        <p:nvSpPr>
          <p:cNvPr id="9" name="Shape 7"/>
          <p:cNvSpPr/>
          <p:nvPr/>
        </p:nvSpPr>
        <p:spPr>
          <a:xfrm>
            <a:off x="4846320" y="77724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10" name="Shape 8"/>
          <p:cNvSpPr/>
          <p:nvPr/>
        </p:nvSpPr>
        <p:spPr>
          <a:xfrm>
            <a:off x="4846320" y="77724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11" name="Text 9"/>
          <p:cNvSpPr/>
          <p:nvPr/>
        </p:nvSpPr>
        <p:spPr>
          <a:xfrm>
            <a:off x="4983480" y="85039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02</a:t>
            </a:r>
            <a:endParaRPr lang="en-US" sz="2400" dirty="0"/>
          </a:p>
        </p:txBody>
      </p:sp>
      <p:sp>
        <p:nvSpPr>
          <p:cNvPr id="12" name="Text 10"/>
          <p:cNvSpPr/>
          <p:nvPr/>
        </p:nvSpPr>
        <p:spPr>
          <a:xfrm>
            <a:off x="5440680" y="86868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Research Questions</a:t>
            </a:r>
            <a:endParaRPr lang="en-US" sz="1400" dirty="0"/>
          </a:p>
        </p:txBody>
      </p:sp>
      <p:sp>
        <p:nvSpPr>
          <p:cNvPr id="13" name="Text 11"/>
          <p:cNvSpPr/>
          <p:nvPr/>
        </p:nvSpPr>
        <p:spPr>
          <a:xfrm>
            <a:off x="4983480" y="125272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What wards show early warning signs? Where do multiple distress stages overlap?</a:t>
            </a:r>
            <a:endParaRPr lang="en-US" sz="1000" dirty="0"/>
          </a:p>
        </p:txBody>
      </p:sp>
      <p:sp>
        <p:nvSpPr>
          <p:cNvPr id="14" name="Shape 12"/>
          <p:cNvSpPr/>
          <p:nvPr/>
        </p:nvSpPr>
        <p:spPr>
          <a:xfrm>
            <a:off x="457200" y="205740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15" name="Shape 13"/>
          <p:cNvSpPr/>
          <p:nvPr/>
        </p:nvSpPr>
        <p:spPr>
          <a:xfrm>
            <a:off x="457200" y="205740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16" name="Text 14"/>
          <p:cNvSpPr/>
          <p:nvPr/>
        </p:nvSpPr>
        <p:spPr>
          <a:xfrm>
            <a:off x="594360" y="213055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03</a:t>
            </a:r>
            <a:endParaRPr lang="en-US" sz="2400" dirty="0"/>
          </a:p>
        </p:txBody>
      </p:sp>
      <p:sp>
        <p:nvSpPr>
          <p:cNvPr id="17" name="Text 15"/>
          <p:cNvSpPr/>
          <p:nvPr/>
        </p:nvSpPr>
        <p:spPr>
          <a:xfrm>
            <a:off x="1051560" y="214884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Data &amp; Variables</a:t>
            </a:r>
            <a:endParaRPr lang="en-US" sz="1400" dirty="0"/>
          </a:p>
        </p:txBody>
      </p:sp>
      <p:sp>
        <p:nvSpPr>
          <p:cNvPr id="18" name="Text 16"/>
          <p:cNvSpPr/>
          <p:nvPr/>
        </p:nvSpPr>
        <p:spPr>
          <a:xfrm>
            <a:off x="594360" y="253288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Four datasets mapping each stage of the disinvestment pipeline</a:t>
            </a:r>
            <a:endParaRPr lang="en-US" sz="1000" dirty="0"/>
          </a:p>
        </p:txBody>
      </p:sp>
      <p:sp>
        <p:nvSpPr>
          <p:cNvPr id="19" name="Shape 17"/>
          <p:cNvSpPr/>
          <p:nvPr/>
        </p:nvSpPr>
        <p:spPr>
          <a:xfrm>
            <a:off x="4846320" y="205740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20" name="Shape 18"/>
          <p:cNvSpPr/>
          <p:nvPr/>
        </p:nvSpPr>
        <p:spPr>
          <a:xfrm>
            <a:off x="4846320" y="205740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21" name="Text 19"/>
          <p:cNvSpPr/>
          <p:nvPr/>
        </p:nvSpPr>
        <p:spPr>
          <a:xfrm>
            <a:off x="4983480" y="213055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04</a:t>
            </a:r>
            <a:endParaRPr lang="en-US" sz="2400" dirty="0"/>
          </a:p>
        </p:txBody>
      </p:sp>
      <p:sp>
        <p:nvSpPr>
          <p:cNvPr id="22" name="Text 20"/>
          <p:cNvSpPr/>
          <p:nvPr/>
        </p:nvSpPr>
        <p:spPr>
          <a:xfrm>
            <a:off x="5440680" y="214884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Key Findings</a:t>
            </a:r>
            <a:endParaRPr lang="en-US" sz="1400" dirty="0"/>
          </a:p>
        </p:txBody>
      </p:sp>
      <p:sp>
        <p:nvSpPr>
          <p:cNvPr id="23" name="Text 21"/>
          <p:cNvSpPr/>
          <p:nvPr/>
        </p:nvSpPr>
        <p:spPr>
          <a:xfrm>
            <a:off x="4983480" y="253288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Geographic concentration, penalty share, and water debt as a proxy signal</a:t>
            </a:r>
            <a:endParaRPr lang="en-US" sz="1000" dirty="0"/>
          </a:p>
        </p:txBody>
      </p:sp>
      <p:sp>
        <p:nvSpPr>
          <p:cNvPr id="24" name="Shape 22"/>
          <p:cNvSpPr/>
          <p:nvPr/>
        </p:nvSpPr>
        <p:spPr>
          <a:xfrm>
            <a:off x="457200" y="333756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25" name="Shape 23"/>
          <p:cNvSpPr/>
          <p:nvPr/>
        </p:nvSpPr>
        <p:spPr>
          <a:xfrm>
            <a:off x="457200" y="333756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26" name="Text 24"/>
          <p:cNvSpPr/>
          <p:nvPr/>
        </p:nvSpPr>
        <p:spPr>
          <a:xfrm>
            <a:off x="594360" y="341071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05</a:t>
            </a:r>
            <a:endParaRPr lang="en-US" sz="2400" dirty="0"/>
          </a:p>
        </p:txBody>
      </p:sp>
      <p:sp>
        <p:nvSpPr>
          <p:cNvPr id="27" name="Text 25"/>
          <p:cNvSpPr/>
          <p:nvPr/>
        </p:nvSpPr>
        <p:spPr>
          <a:xfrm>
            <a:off x="1051560" y="342900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Interactive Dashboard</a:t>
            </a:r>
            <a:endParaRPr lang="en-US" sz="1400" dirty="0"/>
          </a:p>
        </p:txBody>
      </p:sp>
      <p:sp>
        <p:nvSpPr>
          <p:cNvPr id="28" name="Text 26"/>
          <p:cNvSpPr/>
          <p:nvPr/>
        </p:nvSpPr>
        <p:spPr>
          <a:xfrm>
            <a:off x="594360" y="381304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Ward-level Housing Distress Index: foreclosures, vacancy, debt, demolitions</a:t>
            </a:r>
            <a:endParaRPr lang="en-US" sz="1000" dirty="0"/>
          </a:p>
        </p:txBody>
      </p:sp>
      <p:sp>
        <p:nvSpPr>
          <p:cNvPr id="29" name="Shape 27"/>
          <p:cNvSpPr/>
          <p:nvPr/>
        </p:nvSpPr>
        <p:spPr>
          <a:xfrm>
            <a:off x="4846320" y="3337560"/>
            <a:ext cx="4206240" cy="1051560"/>
          </a:xfrm>
          <a:prstGeom prst="rect">
            <a:avLst/>
          </a:prstGeom>
          <a:solidFill>
            <a:srgbClr val="F5F5F5"/>
          </a:solidFill>
          <a:ln w="6350">
            <a:solidFill>
              <a:srgbClr val="D6DCE4"/>
            </a:solidFill>
            <a:prstDash val="solid"/>
          </a:ln>
        </p:spPr>
        <p:txBody>
          <a:bodyPr/>
          <a:lstStyle/>
          <a:p>
            <a:endParaRPr lang="en-US" sz="2000"/>
          </a:p>
        </p:txBody>
      </p:sp>
      <p:sp>
        <p:nvSpPr>
          <p:cNvPr id="30" name="Shape 28"/>
          <p:cNvSpPr/>
          <p:nvPr/>
        </p:nvSpPr>
        <p:spPr>
          <a:xfrm>
            <a:off x="4846320" y="3337560"/>
            <a:ext cx="50292" cy="1051560"/>
          </a:xfrm>
          <a:prstGeom prst="rect">
            <a:avLst/>
          </a:prstGeom>
          <a:solidFill>
            <a:srgbClr val="2E75B6"/>
          </a:solidFill>
          <a:ln w="12700">
            <a:solidFill>
              <a:srgbClr val="2E75B6"/>
            </a:solidFill>
            <a:prstDash val="solid"/>
          </a:ln>
        </p:spPr>
        <p:txBody>
          <a:bodyPr/>
          <a:lstStyle/>
          <a:p>
            <a:endParaRPr lang="en-US" sz="2000"/>
          </a:p>
        </p:txBody>
      </p:sp>
      <p:sp>
        <p:nvSpPr>
          <p:cNvPr id="31" name="Text 29"/>
          <p:cNvSpPr/>
          <p:nvPr/>
        </p:nvSpPr>
        <p:spPr>
          <a:xfrm>
            <a:off x="4983480" y="3410712"/>
            <a:ext cx="457200" cy="365760"/>
          </a:xfrm>
          <a:prstGeom prst="rect">
            <a:avLst/>
          </a:prstGeom>
          <a:noFill/>
          <a:ln/>
        </p:spPr>
        <p:txBody>
          <a:bodyPr wrap="square" lIns="0" tIns="0" rIns="0" bIns="0" rtlCol="0" anchor="ctr"/>
          <a:lstStyle/>
          <a:p>
            <a:pPr marL="0" indent="0">
              <a:buNone/>
            </a:pPr>
            <a:r>
              <a:rPr lang="en-US" sz="2400" b="1" dirty="0">
                <a:solidFill>
                  <a:srgbClr val="2E75B6"/>
                </a:solidFill>
                <a:latin typeface="Calibri" pitchFamily="34" charset="0"/>
                <a:ea typeface="Calibri" pitchFamily="34" charset="-122"/>
                <a:cs typeface="Calibri" pitchFamily="34" charset="-120"/>
              </a:rPr>
              <a:t>06</a:t>
            </a:r>
            <a:endParaRPr lang="en-US" sz="2400" dirty="0"/>
          </a:p>
        </p:txBody>
      </p:sp>
      <p:sp>
        <p:nvSpPr>
          <p:cNvPr id="32" name="Text 30"/>
          <p:cNvSpPr/>
          <p:nvPr/>
        </p:nvSpPr>
        <p:spPr>
          <a:xfrm>
            <a:off x="5440680" y="3429000"/>
            <a:ext cx="3474720" cy="347472"/>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Policy Recommendations</a:t>
            </a:r>
            <a:endParaRPr lang="en-US" sz="1400" dirty="0"/>
          </a:p>
        </p:txBody>
      </p:sp>
      <p:sp>
        <p:nvSpPr>
          <p:cNvPr id="33" name="Text 31"/>
          <p:cNvSpPr/>
          <p:nvPr/>
        </p:nvSpPr>
        <p:spPr>
          <a:xfrm>
            <a:off x="4983480" y="3813048"/>
            <a:ext cx="3931920" cy="530352"/>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Targeted interventions to interrupt the cycle before the point of no return</a:t>
            </a:r>
            <a:endParaRPr lang="en-US" sz="1000" dirty="0"/>
          </a:p>
        </p:txBody>
      </p:sp>
      <p:sp>
        <p:nvSpPr>
          <p:cNvPr id="34" name="Shape 32"/>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35" name="Text 33"/>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36" name="Text 34"/>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PROBLEM DIAGNOSIS</a:t>
            </a:r>
            <a:endParaRPr lang="en-US" sz="1050" dirty="0"/>
          </a:p>
        </p:txBody>
      </p:sp>
      <p:sp>
        <p:nvSpPr>
          <p:cNvPr id="4" name="Text 2"/>
          <p:cNvSpPr/>
          <p:nvPr/>
        </p:nvSpPr>
        <p:spPr>
          <a:xfrm>
            <a:off x="457200" y="685800"/>
            <a:ext cx="8229600" cy="50292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Chicago's Property Abandonment Cycle is a Policy Failure</a:t>
            </a:r>
            <a:endParaRPr lang="en-US" sz="2400" dirty="0"/>
          </a:p>
        </p:txBody>
      </p:sp>
      <p:sp>
        <p:nvSpPr>
          <p:cNvPr id="5" name="Text 3"/>
          <p:cNvSpPr/>
          <p:nvPr/>
        </p:nvSpPr>
        <p:spPr>
          <a:xfrm>
            <a:off x="457200" y="1188720"/>
            <a:ext cx="8229600" cy="457200"/>
          </a:xfrm>
          <a:prstGeom prst="rect">
            <a:avLst/>
          </a:prstGeom>
          <a:noFill/>
          <a:ln/>
        </p:spPr>
        <p:txBody>
          <a:bodyPr wrap="square" rtlCol="0" anchor="ctr"/>
          <a:lstStyle/>
          <a:p>
            <a:pPr marL="0" indent="0">
              <a:lnSpc>
                <a:spcPct val="140000"/>
              </a:lnSpc>
              <a:buNone/>
            </a:pPr>
            <a:r>
              <a:rPr lang="en-US" sz="1100" dirty="0">
                <a:solidFill>
                  <a:srgbClr val="595959"/>
                </a:solidFill>
                <a:latin typeface="Calibri" pitchFamily="34" charset="0"/>
                <a:ea typeface="Calibri" pitchFamily="34" charset="-122"/>
                <a:cs typeface="Calibri" pitchFamily="34" charset="-120"/>
              </a:rPr>
              <a:t>Property abandonment in Chicago follows a predictable, measurable sequence. Each stage is documented in city data. Each stage is a potential intervention point — and a missed revenue opportunity.</a:t>
            </a:r>
            <a:endParaRPr lang="en-US" sz="1100" dirty="0"/>
          </a:p>
        </p:txBody>
      </p:sp>
      <p:sp>
        <p:nvSpPr>
          <p:cNvPr id="6" name="Shape 4"/>
          <p:cNvSpPr/>
          <p:nvPr/>
        </p:nvSpPr>
        <p:spPr>
          <a:xfrm>
            <a:off x="457200" y="1691640"/>
            <a:ext cx="8229600" cy="0"/>
          </a:xfrm>
          <a:prstGeom prst="line">
            <a:avLst/>
          </a:prstGeom>
          <a:noFill/>
          <a:ln w="6350">
            <a:solidFill>
              <a:srgbClr val="D0D7E3"/>
            </a:solidFill>
            <a:prstDash val="solid"/>
          </a:ln>
        </p:spPr>
        <p:txBody>
          <a:bodyPr/>
          <a:lstStyle/>
          <a:p>
            <a:endParaRPr lang="en-US" sz="2000"/>
          </a:p>
        </p:txBody>
      </p:sp>
      <p:sp>
        <p:nvSpPr>
          <p:cNvPr id="7" name="Shape 5"/>
          <p:cNvSpPr/>
          <p:nvPr/>
        </p:nvSpPr>
        <p:spPr>
          <a:xfrm>
            <a:off x="457200" y="1783080"/>
            <a:ext cx="2606040" cy="1417320"/>
          </a:xfrm>
          <a:prstGeom prst="rect">
            <a:avLst/>
          </a:prstGeom>
          <a:solidFill>
            <a:srgbClr val="F5F5F5"/>
          </a:solidFill>
          <a:ln w="6350">
            <a:solidFill>
              <a:srgbClr val="D6DCE4"/>
            </a:solidFill>
            <a:prstDash val="solid"/>
          </a:ln>
        </p:spPr>
        <p:txBody>
          <a:bodyPr/>
          <a:lstStyle/>
          <a:p>
            <a:endParaRPr lang="en-US" sz="2000"/>
          </a:p>
        </p:txBody>
      </p:sp>
      <p:sp>
        <p:nvSpPr>
          <p:cNvPr id="8" name="Shape 6"/>
          <p:cNvSpPr/>
          <p:nvPr/>
        </p:nvSpPr>
        <p:spPr>
          <a:xfrm>
            <a:off x="457200" y="1783080"/>
            <a:ext cx="2606040" cy="41148"/>
          </a:xfrm>
          <a:prstGeom prst="rect">
            <a:avLst/>
          </a:prstGeom>
          <a:solidFill>
            <a:srgbClr val="2E75B6"/>
          </a:solidFill>
          <a:ln w="12700">
            <a:solidFill>
              <a:srgbClr val="2E75B6"/>
            </a:solidFill>
            <a:prstDash val="solid"/>
          </a:ln>
        </p:spPr>
        <p:txBody>
          <a:bodyPr/>
          <a:lstStyle/>
          <a:p>
            <a:endParaRPr lang="en-US" sz="2000"/>
          </a:p>
        </p:txBody>
      </p:sp>
      <p:sp>
        <p:nvSpPr>
          <p:cNvPr id="9" name="Text 7"/>
          <p:cNvSpPr/>
          <p:nvPr/>
        </p:nvSpPr>
        <p:spPr>
          <a:xfrm>
            <a:off x="594360" y="1828800"/>
            <a:ext cx="2331720" cy="685800"/>
          </a:xfrm>
          <a:prstGeom prst="rect">
            <a:avLst/>
          </a:prstGeom>
          <a:noFill/>
          <a:ln/>
        </p:spPr>
        <p:txBody>
          <a:bodyPr wrap="square" lIns="0" tIns="0" rIns="0" bIns="0" rtlCol="0" anchor="ctr"/>
          <a:lstStyle/>
          <a:p>
            <a:pPr marL="0" indent="0">
              <a:buNone/>
            </a:pPr>
            <a:r>
              <a:rPr lang="en-US" sz="4000" b="1" dirty="0">
                <a:solidFill>
                  <a:srgbClr val="2E75B6"/>
                </a:solidFill>
                <a:latin typeface="Calibri" pitchFamily="34" charset="0"/>
                <a:ea typeface="Calibri" pitchFamily="34" charset="-122"/>
                <a:cs typeface="Calibri" pitchFamily="34" charset="-120"/>
              </a:rPr>
              <a:t>32,600+</a:t>
            </a:r>
            <a:endParaRPr lang="en-US" sz="4000" dirty="0"/>
          </a:p>
        </p:txBody>
      </p:sp>
      <p:sp>
        <p:nvSpPr>
          <p:cNvPr id="10" name="Text 8"/>
          <p:cNvSpPr/>
          <p:nvPr/>
        </p:nvSpPr>
        <p:spPr>
          <a:xfrm>
            <a:off x="594360" y="2514600"/>
            <a:ext cx="2331720" cy="402336"/>
          </a:xfrm>
          <a:prstGeom prst="rect">
            <a:avLst/>
          </a:prstGeom>
          <a:noFill/>
          <a:ln/>
        </p:spPr>
        <p:txBody>
          <a:bodyPr wrap="square" lIns="0" tIns="0" rIns="0" bIns="0" rtlCol="0" anchor="ctr"/>
          <a:lstStyle/>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Vacant parcels</a:t>
            </a:r>
            <a:endParaRPr lang="en-US" sz="1000" dirty="0"/>
          </a:p>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across Chicago</a:t>
            </a:r>
            <a:endParaRPr lang="en-US" sz="1000" dirty="0"/>
          </a:p>
        </p:txBody>
      </p:sp>
      <p:sp>
        <p:nvSpPr>
          <p:cNvPr id="11" name="Text 9"/>
          <p:cNvSpPr/>
          <p:nvPr/>
        </p:nvSpPr>
        <p:spPr>
          <a:xfrm>
            <a:off x="594360" y="2916936"/>
            <a:ext cx="2331720" cy="256032"/>
          </a:xfrm>
          <a:prstGeom prst="rect">
            <a:avLst/>
          </a:prstGeom>
          <a:noFill/>
          <a:ln/>
        </p:spPr>
        <p:txBody>
          <a:bodyPr wrap="square" lIns="0" tIns="0" rIns="0" bIns="0" rtlCol="0" anchor="ctr"/>
          <a:lstStyle/>
          <a:p>
            <a:pPr marL="0" indent="0">
              <a:buNone/>
            </a:pPr>
            <a:r>
              <a:rPr lang="en-US" sz="900" i="1" dirty="0">
                <a:solidFill>
                  <a:srgbClr val="595959"/>
                </a:solidFill>
                <a:latin typeface="Calibri" pitchFamily="34" charset="0"/>
                <a:ea typeface="Calibri" pitchFamily="34" charset="-122"/>
                <a:cs typeface="Calibri" pitchFamily="34" charset="-120"/>
              </a:rPr>
              <a:t>Permanent revenue loss</a:t>
            </a:r>
            <a:endParaRPr lang="en-US" sz="900" dirty="0"/>
          </a:p>
        </p:txBody>
      </p:sp>
      <p:sp>
        <p:nvSpPr>
          <p:cNvPr id="12" name="Shape 10"/>
          <p:cNvSpPr/>
          <p:nvPr/>
        </p:nvSpPr>
        <p:spPr>
          <a:xfrm>
            <a:off x="3337560" y="1783080"/>
            <a:ext cx="2606040" cy="1417320"/>
          </a:xfrm>
          <a:prstGeom prst="rect">
            <a:avLst/>
          </a:prstGeom>
          <a:solidFill>
            <a:srgbClr val="F5F5F5"/>
          </a:solidFill>
          <a:ln w="6350">
            <a:solidFill>
              <a:srgbClr val="D6DCE4"/>
            </a:solidFill>
            <a:prstDash val="solid"/>
          </a:ln>
        </p:spPr>
        <p:txBody>
          <a:bodyPr/>
          <a:lstStyle/>
          <a:p>
            <a:endParaRPr lang="en-US" sz="2000"/>
          </a:p>
        </p:txBody>
      </p:sp>
      <p:sp>
        <p:nvSpPr>
          <p:cNvPr id="13" name="Shape 11"/>
          <p:cNvSpPr/>
          <p:nvPr/>
        </p:nvSpPr>
        <p:spPr>
          <a:xfrm>
            <a:off x="3337560" y="1783080"/>
            <a:ext cx="2606040" cy="41148"/>
          </a:xfrm>
          <a:prstGeom prst="rect">
            <a:avLst/>
          </a:prstGeom>
          <a:solidFill>
            <a:srgbClr val="C00000"/>
          </a:solidFill>
          <a:ln w="12700">
            <a:solidFill>
              <a:srgbClr val="C00000"/>
            </a:solidFill>
            <a:prstDash val="solid"/>
          </a:ln>
        </p:spPr>
        <p:txBody>
          <a:bodyPr/>
          <a:lstStyle/>
          <a:p>
            <a:endParaRPr lang="en-US" sz="2000"/>
          </a:p>
        </p:txBody>
      </p:sp>
      <p:sp>
        <p:nvSpPr>
          <p:cNvPr id="14" name="Text 12"/>
          <p:cNvSpPr/>
          <p:nvPr/>
        </p:nvSpPr>
        <p:spPr>
          <a:xfrm>
            <a:off x="3474720" y="1828800"/>
            <a:ext cx="2331720" cy="685800"/>
          </a:xfrm>
          <a:prstGeom prst="rect">
            <a:avLst/>
          </a:prstGeom>
          <a:noFill/>
          <a:ln/>
        </p:spPr>
        <p:txBody>
          <a:bodyPr wrap="square" lIns="0" tIns="0" rIns="0" bIns="0" rtlCol="0" anchor="ctr"/>
          <a:lstStyle/>
          <a:p>
            <a:pPr marL="0" indent="0">
              <a:buNone/>
            </a:pPr>
            <a:r>
              <a:rPr lang="en-US" sz="4000" b="1" dirty="0">
                <a:solidFill>
                  <a:srgbClr val="C00000"/>
                </a:solidFill>
                <a:latin typeface="Calibri" pitchFamily="34" charset="0"/>
                <a:ea typeface="Calibri" pitchFamily="34" charset="-122"/>
                <a:cs typeface="Calibri" pitchFamily="34" charset="-120"/>
              </a:rPr>
              <a:t>46%</a:t>
            </a:r>
            <a:endParaRPr lang="en-US" sz="4000" dirty="0"/>
          </a:p>
        </p:txBody>
      </p:sp>
      <p:sp>
        <p:nvSpPr>
          <p:cNvPr id="15" name="Text 13"/>
          <p:cNvSpPr/>
          <p:nvPr/>
        </p:nvSpPr>
        <p:spPr>
          <a:xfrm>
            <a:off x="3474720" y="2514600"/>
            <a:ext cx="2331720" cy="402336"/>
          </a:xfrm>
          <a:prstGeom prst="rect">
            <a:avLst/>
          </a:prstGeom>
          <a:noFill/>
          <a:ln/>
        </p:spPr>
        <p:txBody>
          <a:bodyPr wrap="square" lIns="0" tIns="0" rIns="0" bIns="0" rtlCol="0" anchor="ctr"/>
          <a:lstStyle/>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Of outstanding debt</a:t>
            </a:r>
            <a:endParaRPr lang="en-US" sz="1000" dirty="0"/>
          </a:p>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in high-risk wards</a:t>
            </a:r>
            <a:endParaRPr lang="en-US" sz="1000" dirty="0"/>
          </a:p>
        </p:txBody>
      </p:sp>
      <p:sp>
        <p:nvSpPr>
          <p:cNvPr id="16" name="Text 14"/>
          <p:cNvSpPr/>
          <p:nvPr/>
        </p:nvSpPr>
        <p:spPr>
          <a:xfrm>
            <a:off x="3474720" y="2916936"/>
            <a:ext cx="2331720" cy="256032"/>
          </a:xfrm>
          <a:prstGeom prst="rect">
            <a:avLst/>
          </a:prstGeom>
          <a:noFill/>
          <a:ln/>
        </p:spPr>
        <p:txBody>
          <a:bodyPr wrap="square" lIns="0" tIns="0" rIns="0" bIns="0" rtlCol="0" anchor="ctr"/>
          <a:lstStyle/>
          <a:p>
            <a:pPr marL="0" indent="0">
              <a:buNone/>
            </a:pPr>
            <a:r>
              <a:rPr lang="en-US" sz="900" i="1" dirty="0">
                <a:solidFill>
                  <a:srgbClr val="595959"/>
                </a:solidFill>
                <a:latin typeface="Calibri" pitchFamily="34" charset="0"/>
                <a:ea typeface="Calibri" pitchFamily="34" charset="-122"/>
                <a:cs typeface="Calibri" pitchFamily="34" charset="-120"/>
              </a:rPr>
              <a:t>Is city-imposed penalties</a:t>
            </a:r>
            <a:endParaRPr lang="en-US" sz="900" dirty="0"/>
          </a:p>
        </p:txBody>
      </p:sp>
      <p:sp>
        <p:nvSpPr>
          <p:cNvPr id="17" name="Shape 15"/>
          <p:cNvSpPr/>
          <p:nvPr/>
        </p:nvSpPr>
        <p:spPr>
          <a:xfrm>
            <a:off x="6217920" y="1783080"/>
            <a:ext cx="2606040" cy="1417320"/>
          </a:xfrm>
          <a:prstGeom prst="rect">
            <a:avLst/>
          </a:prstGeom>
          <a:solidFill>
            <a:srgbClr val="F5F5F5"/>
          </a:solidFill>
          <a:ln w="6350">
            <a:solidFill>
              <a:srgbClr val="D6DCE4"/>
            </a:solidFill>
            <a:prstDash val="solid"/>
          </a:ln>
        </p:spPr>
        <p:txBody>
          <a:bodyPr/>
          <a:lstStyle/>
          <a:p>
            <a:endParaRPr lang="en-US" sz="2000"/>
          </a:p>
        </p:txBody>
      </p:sp>
      <p:sp>
        <p:nvSpPr>
          <p:cNvPr id="18" name="Shape 16"/>
          <p:cNvSpPr/>
          <p:nvPr/>
        </p:nvSpPr>
        <p:spPr>
          <a:xfrm>
            <a:off x="6217920" y="1783080"/>
            <a:ext cx="2606040" cy="41148"/>
          </a:xfrm>
          <a:prstGeom prst="rect">
            <a:avLst/>
          </a:prstGeom>
          <a:solidFill>
            <a:srgbClr val="404040"/>
          </a:solidFill>
          <a:ln w="12700">
            <a:solidFill>
              <a:srgbClr val="404040"/>
            </a:solidFill>
            <a:prstDash val="solid"/>
          </a:ln>
        </p:spPr>
        <p:txBody>
          <a:bodyPr/>
          <a:lstStyle/>
          <a:p>
            <a:endParaRPr lang="en-US" sz="2000"/>
          </a:p>
        </p:txBody>
      </p:sp>
      <p:sp>
        <p:nvSpPr>
          <p:cNvPr id="19" name="Text 17"/>
          <p:cNvSpPr/>
          <p:nvPr/>
        </p:nvSpPr>
        <p:spPr>
          <a:xfrm>
            <a:off x="6355080" y="1828800"/>
            <a:ext cx="2331720" cy="685800"/>
          </a:xfrm>
          <a:prstGeom prst="rect">
            <a:avLst/>
          </a:prstGeom>
          <a:noFill/>
          <a:ln/>
        </p:spPr>
        <p:txBody>
          <a:bodyPr wrap="square" lIns="0" tIns="0" rIns="0" bIns="0" rtlCol="0" anchor="ctr"/>
          <a:lstStyle/>
          <a:p>
            <a:pPr marL="0" indent="0">
              <a:buNone/>
            </a:pPr>
            <a:r>
              <a:rPr lang="en-US" sz="4000" b="1" dirty="0">
                <a:solidFill>
                  <a:srgbClr val="404040"/>
                </a:solidFill>
                <a:latin typeface="Calibri" pitchFamily="34" charset="0"/>
                <a:ea typeface="Calibri" pitchFamily="34" charset="-122"/>
                <a:cs typeface="Calibri" pitchFamily="34" charset="-120"/>
              </a:rPr>
              <a:t>2×</a:t>
            </a:r>
            <a:endParaRPr lang="en-US" sz="4000" dirty="0"/>
          </a:p>
        </p:txBody>
      </p:sp>
      <p:sp>
        <p:nvSpPr>
          <p:cNvPr id="20" name="Text 18"/>
          <p:cNvSpPr/>
          <p:nvPr/>
        </p:nvSpPr>
        <p:spPr>
          <a:xfrm>
            <a:off x="6355080" y="2514600"/>
            <a:ext cx="2331720" cy="402336"/>
          </a:xfrm>
          <a:prstGeom prst="rect">
            <a:avLst/>
          </a:prstGeom>
          <a:noFill/>
          <a:ln/>
        </p:spPr>
        <p:txBody>
          <a:bodyPr wrap="square" lIns="0" tIns="0" rIns="0" bIns="0" rtlCol="0" anchor="ctr"/>
          <a:lstStyle/>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The city loses</a:t>
            </a:r>
            <a:endParaRPr lang="en-US" sz="1000" dirty="0"/>
          </a:p>
          <a:p>
            <a:pPr marL="0" indent="0">
              <a:lnSpc>
                <a:spcPct val="125000"/>
              </a:lnSpc>
              <a:buNone/>
            </a:pPr>
            <a:r>
              <a:rPr lang="en-US" sz="1000" b="1" dirty="0">
                <a:solidFill>
                  <a:srgbClr val="404040"/>
                </a:solidFill>
                <a:latin typeface="Calibri" pitchFamily="34" charset="0"/>
                <a:ea typeface="Calibri" pitchFamily="34" charset="-122"/>
                <a:cs typeface="Calibri" pitchFamily="34" charset="-120"/>
              </a:rPr>
              <a:t>on every failure</a:t>
            </a:r>
            <a:endParaRPr lang="en-US" sz="1000" dirty="0"/>
          </a:p>
        </p:txBody>
      </p:sp>
      <p:sp>
        <p:nvSpPr>
          <p:cNvPr id="21" name="Text 19"/>
          <p:cNvSpPr/>
          <p:nvPr/>
        </p:nvSpPr>
        <p:spPr>
          <a:xfrm>
            <a:off x="6355080" y="2916936"/>
            <a:ext cx="2331720" cy="256032"/>
          </a:xfrm>
          <a:prstGeom prst="rect">
            <a:avLst/>
          </a:prstGeom>
          <a:noFill/>
          <a:ln/>
        </p:spPr>
        <p:txBody>
          <a:bodyPr wrap="square" lIns="0" tIns="0" rIns="0" bIns="0" rtlCol="0" anchor="ctr"/>
          <a:lstStyle/>
          <a:p>
            <a:pPr marL="0" indent="0">
              <a:buNone/>
            </a:pPr>
            <a:r>
              <a:rPr lang="en-US" sz="900" i="1" dirty="0">
                <a:solidFill>
                  <a:srgbClr val="595959"/>
                </a:solidFill>
                <a:latin typeface="Calibri" pitchFamily="34" charset="0"/>
                <a:ea typeface="Calibri" pitchFamily="34" charset="-122"/>
                <a:cs typeface="Calibri" pitchFamily="34" charset="-120"/>
              </a:rPr>
              <a:t>Unpaid revenue + demolition cost</a:t>
            </a:r>
            <a:endParaRPr lang="en-US" sz="900" dirty="0"/>
          </a:p>
        </p:txBody>
      </p:sp>
      <p:sp>
        <p:nvSpPr>
          <p:cNvPr id="22" name="Shape 20"/>
          <p:cNvSpPr/>
          <p:nvPr/>
        </p:nvSpPr>
        <p:spPr>
          <a:xfrm>
            <a:off x="457200" y="3291840"/>
            <a:ext cx="8229600" cy="0"/>
          </a:xfrm>
          <a:prstGeom prst="line">
            <a:avLst/>
          </a:prstGeom>
          <a:noFill/>
          <a:ln w="6350">
            <a:solidFill>
              <a:srgbClr val="D0D7E3"/>
            </a:solidFill>
            <a:prstDash val="solid"/>
          </a:ln>
        </p:spPr>
        <p:txBody>
          <a:bodyPr/>
          <a:lstStyle/>
          <a:p>
            <a:endParaRPr lang="en-US" sz="2000"/>
          </a:p>
        </p:txBody>
      </p:sp>
      <p:sp>
        <p:nvSpPr>
          <p:cNvPr id="23" name="Shape 21"/>
          <p:cNvSpPr/>
          <p:nvPr/>
        </p:nvSpPr>
        <p:spPr>
          <a:xfrm>
            <a:off x="457200" y="3364992"/>
            <a:ext cx="8229600" cy="868680"/>
          </a:xfrm>
          <a:prstGeom prst="rect">
            <a:avLst/>
          </a:prstGeom>
          <a:solidFill>
            <a:srgbClr val="EEF4FB"/>
          </a:solidFill>
          <a:ln w="9525">
            <a:solidFill>
              <a:srgbClr val="BDD7EE"/>
            </a:solidFill>
            <a:prstDash val="solid"/>
          </a:ln>
        </p:spPr>
        <p:txBody>
          <a:bodyPr/>
          <a:lstStyle/>
          <a:p>
            <a:endParaRPr lang="en-US" sz="2000"/>
          </a:p>
        </p:txBody>
      </p:sp>
      <p:sp>
        <p:nvSpPr>
          <p:cNvPr id="24" name="Shape 22"/>
          <p:cNvSpPr/>
          <p:nvPr/>
        </p:nvSpPr>
        <p:spPr>
          <a:xfrm>
            <a:off x="457200" y="3364992"/>
            <a:ext cx="50292" cy="868680"/>
          </a:xfrm>
          <a:prstGeom prst="rect">
            <a:avLst/>
          </a:prstGeom>
          <a:solidFill>
            <a:srgbClr val="2E75B6"/>
          </a:solidFill>
          <a:ln w="12700">
            <a:solidFill>
              <a:srgbClr val="2E75B6"/>
            </a:solidFill>
            <a:prstDash val="solid"/>
          </a:ln>
        </p:spPr>
        <p:txBody>
          <a:bodyPr/>
          <a:lstStyle/>
          <a:p>
            <a:endParaRPr lang="en-US" sz="2000"/>
          </a:p>
        </p:txBody>
      </p:sp>
      <p:sp>
        <p:nvSpPr>
          <p:cNvPr id="25" name="Text 23"/>
          <p:cNvSpPr/>
          <p:nvPr/>
        </p:nvSpPr>
        <p:spPr>
          <a:xfrm>
            <a:off x="685800" y="3401568"/>
            <a:ext cx="7315200" cy="256032"/>
          </a:xfrm>
          <a:prstGeom prst="rect">
            <a:avLst/>
          </a:prstGeom>
          <a:noFill/>
          <a:ln/>
        </p:spPr>
        <p:txBody>
          <a:bodyPr wrap="square" lIns="0" tIns="0" rIns="0" bIns="0" rtlCol="0" anchor="ctr"/>
          <a:lstStyle/>
          <a:p>
            <a:pPr marL="0" indent="0">
              <a:buNone/>
            </a:pPr>
            <a:r>
              <a:rPr lang="en-US" sz="1050" b="1" dirty="0">
                <a:solidFill>
                  <a:srgbClr val="2E75B6"/>
                </a:solidFill>
                <a:latin typeface="Calibri" pitchFamily="34" charset="0"/>
                <a:ea typeface="Calibri" pitchFamily="34" charset="-122"/>
                <a:cs typeface="Calibri" pitchFamily="34" charset="-120"/>
              </a:rPr>
              <a:t>Key Policy Implication</a:t>
            </a:r>
            <a:endParaRPr lang="en-US" sz="1050" dirty="0"/>
          </a:p>
        </p:txBody>
      </p:sp>
      <p:sp>
        <p:nvSpPr>
          <p:cNvPr id="26" name="Text 24"/>
          <p:cNvSpPr/>
          <p:nvPr/>
        </p:nvSpPr>
        <p:spPr>
          <a:xfrm>
            <a:off x="685800" y="3648456"/>
            <a:ext cx="7818120" cy="530352"/>
          </a:xfrm>
          <a:prstGeom prst="rect">
            <a:avLst/>
          </a:prstGeom>
          <a:noFill/>
          <a:ln/>
        </p:spPr>
        <p:txBody>
          <a:bodyPr wrap="square" lIns="0" tIns="0" rIns="0" bIns="0" rtlCol="0" anchor="ctr"/>
          <a:lstStyle/>
          <a:p>
            <a:pPr marL="0" indent="0">
              <a:lnSpc>
                <a:spcPct val="130000"/>
              </a:lnSpc>
              <a:buNone/>
            </a:pPr>
            <a:r>
              <a:rPr lang="en-US" sz="1000" dirty="0">
                <a:solidFill>
                  <a:srgbClr val="404040"/>
                </a:solidFill>
                <a:latin typeface="Calibri" pitchFamily="34" charset="0"/>
                <a:ea typeface="Calibri" pitchFamily="34" charset="-122"/>
                <a:cs typeface="Calibri" pitchFamily="34" charset="-120"/>
              </a:rPr>
              <a:t>Vacant properties generate negative spillover effects — reducing nearby property values and discouraging reinvestment beyond the original parcel. Targeted penalty waivers plus proactive debt intervention could break this cycle and save the city money.</a:t>
            </a:r>
            <a:endParaRPr lang="en-US" sz="1000" dirty="0"/>
          </a:p>
        </p:txBody>
      </p:sp>
      <p:sp>
        <p:nvSpPr>
          <p:cNvPr id="27" name="Shape 25"/>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28" name="Text 26"/>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29" name="Text 27"/>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ANALYTICAL FRAMEWORK</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Pipeline of Housing Distress</a:t>
            </a:r>
            <a:endParaRPr lang="en-US" sz="2400" dirty="0"/>
          </a:p>
        </p:txBody>
      </p:sp>
      <p:sp>
        <p:nvSpPr>
          <p:cNvPr id="5" name="Text 3"/>
          <p:cNvSpPr/>
          <p:nvPr/>
        </p:nvSpPr>
        <p:spPr>
          <a:xfrm>
            <a:off x="457200" y="1143000"/>
            <a:ext cx="8229600" cy="411480"/>
          </a:xfrm>
          <a:prstGeom prst="rect">
            <a:avLst/>
          </a:prstGeom>
          <a:noFill/>
          <a:ln/>
        </p:spPr>
        <p:txBody>
          <a:bodyPr wrap="square" rtlCol="0" anchor="ctr"/>
          <a:lstStyle/>
          <a:p>
            <a:pPr marL="0" indent="0">
              <a:lnSpc>
                <a:spcPct val="140000"/>
              </a:lnSpc>
              <a:buNone/>
            </a:pPr>
            <a:r>
              <a:rPr lang="en-US" sz="1100" dirty="0">
                <a:solidFill>
                  <a:srgbClr val="595959"/>
                </a:solidFill>
                <a:latin typeface="Calibri" pitchFamily="34" charset="0"/>
                <a:ea typeface="Calibri" pitchFamily="34" charset="-122"/>
                <a:cs typeface="Calibri" pitchFamily="34" charset="-120"/>
              </a:rPr>
              <a:t>Housing instability follows a predictable sequence of financial and property-level failures. Each stage is measurable — and each stage is an intervention point.</a:t>
            </a:r>
            <a:endParaRPr lang="en-US" sz="1100" dirty="0"/>
          </a:p>
        </p:txBody>
      </p:sp>
      <p:sp>
        <p:nvSpPr>
          <p:cNvPr id="6" name="Shape 4"/>
          <p:cNvSpPr/>
          <p:nvPr/>
        </p:nvSpPr>
        <p:spPr>
          <a:xfrm>
            <a:off x="274320" y="1691640"/>
            <a:ext cx="1572768" cy="2514600"/>
          </a:xfrm>
          <a:prstGeom prst="rect">
            <a:avLst/>
          </a:prstGeom>
          <a:solidFill>
            <a:srgbClr val="2E75B6"/>
          </a:solidFill>
          <a:ln w="12700">
            <a:solidFill>
              <a:srgbClr val="2E75B6"/>
            </a:solidFill>
            <a:prstDash val="solid"/>
          </a:ln>
        </p:spPr>
        <p:txBody>
          <a:bodyPr/>
          <a:lstStyle/>
          <a:p>
            <a:endParaRPr lang="en-US" sz="2000"/>
          </a:p>
        </p:txBody>
      </p:sp>
      <p:sp>
        <p:nvSpPr>
          <p:cNvPr id="7" name="Text 5"/>
          <p:cNvSpPr/>
          <p:nvPr/>
        </p:nvSpPr>
        <p:spPr>
          <a:xfrm>
            <a:off x="384048" y="1783080"/>
            <a:ext cx="1353312"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365760" y="2103120"/>
            <a:ext cx="1389888" cy="68580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Missed</a:t>
            </a:r>
            <a:endParaRPr lang="en-US" sz="1400" dirty="0"/>
          </a:p>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Payments</a:t>
            </a:r>
            <a:endParaRPr lang="en-US" sz="1400" dirty="0"/>
          </a:p>
        </p:txBody>
      </p:sp>
      <p:sp>
        <p:nvSpPr>
          <p:cNvPr id="9" name="Shape 7"/>
          <p:cNvSpPr/>
          <p:nvPr/>
        </p:nvSpPr>
        <p:spPr>
          <a:xfrm>
            <a:off x="365760" y="2807208"/>
            <a:ext cx="1389888" cy="0"/>
          </a:xfrm>
          <a:prstGeom prst="line">
            <a:avLst/>
          </a:prstGeom>
          <a:noFill/>
          <a:ln w="6350">
            <a:solidFill>
              <a:srgbClr val="FFFFFF">
                <a:alpha val="50000"/>
              </a:srgbClr>
            </a:solidFill>
            <a:prstDash val="solid"/>
          </a:ln>
        </p:spPr>
        <p:txBody>
          <a:bodyPr/>
          <a:lstStyle/>
          <a:p>
            <a:endParaRPr lang="en-US" sz="2000"/>
          </a:p>
        </p:txBody>
      </p:sp>
      <p:sp>
        <p:nvSpPr>
          <p:cNvPr id="10" name="Text 8"/>
          <p:cNvSpPr/>
          <p:nvPr/>
        </p:nvSpPr>
        <p:spPr>
          <a:xfrm>
            <a:off x="365760" y="2880360"/>
            <a:ext cx="1389888" cy="914400"/>
          </a:xfrm>
          <a:prstGeom prst="rect">
            <a:avLst/>
          </a:prstGeom>
          <a:noFill/>
          <a:ln/>
        </p:spPr>
        <p:txBody>
          <a:bodyPr wrap="square" lIns="0" tIns="0" rIns="0" bIns="0" rtlCol="0" anchor="ctr"/>
          <a:lstStyle/>
          <a:p>
            <a:pPr marL="0" indent="0">
              <a:lnSpc>
                <a:spcPct val="130000"/>
              </a:lnSpc>
              <a:buNone/>
            </a:pPr>
            <a:r>
              <a:rPr lang="en-US" sz="900" dirty="0">
                <a:solidFill>
                  <a:srgbClr val="D0E4F5"/>
                </a:solidFill>
                <a:latin typeface="Calibri" pitchFamily="34" charset="0"/>
                <a:ea typeface="Calibri" pitchFamily="34" charset="-122"/>
                <a:cs typeface="Calibri" pitchFamily="34" charset="-120"/>
              </a:rPr>
              <a:t>Utility &amp; tax payments missed; debt begins accumulating</a:t>
            </a:r>
            <a:endParaRPr lang="en-US" sz="900" dirty="0"/>
          </a:p>
        </p:txBody>
      </p:sp>
      <p:sp>
        <p:nvSpPr>
          <p:cNvPr id="11" name="Shape 9"/>
          <p:cNvSpPr/>
          <p:nvPr/>
        </p:nvSpPr>
        <p:spPr>
          <a:xfrm>
            <a:off x="365760" y="3840480"/>
            <a:ext cx="1389888" cy="256032"/>
          </a:xfrm>
          <a:prstGeom prst="rect">
            <a:avLst/>
          </a:prstGeom>
          <a:solidFill>
            <a:srgbClr val="FFFFFF">
              <a:alpha val="20000"/>
            </a:srgbClr>
          </a:solidFill>
          <a:ln w="6350">
            <a:solidFill>
              <a:srgbClr val="FFFFFF">
                <a:alpha val="40000"/>
              </a:srgbClr>
            </a:solidFill>
            <a:prstDash val="solid"/>
          </a:ln>
        </p:spPr>
        <p:txBody>
          <a:bodyPr/>
          <a:lstStyle/>
          <a:p>
            <a:endParaRPr lang="en-US" sz="2000"/>
          </a:p>
        </p:txBody>
      </p:sp>
      <p:sp>
        <p:nvSpPr>
          <p:cNvPr id="12" name="Text 10"/>
          <p:cNvSpPr/>
          <p:nvPr/>
        </p:nvSpPr>
        <p:spPr>
          <a:xfrm>
            <a:off x="365760" y="3840480"/>
            <a:ext cx="1389888"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Earliest signal</a:t>
            </a:r>
            <a:endParaRPr lang="en-US" sz="800" dirty="0"/>
          </a:p>
        </p:txBody>
      </p:sp>
      <p:sp>
        <p:nvSpPr>
          <p:cNvPr id="13" name="Shape 11"/>
          <p:cNvSpPr/>
          <p:nvPr/>
        </p:nvSpPr>
        <p:spPr>
          <a:xfrm>
            <a:off x="1847088" y="2788920"/>
            <a:ext cx="109728" cy="73152"/>
          </a:xfrm>
          <a:prstGeom prst="rect">
            <a:avLst/>
          </a:prstGeom>
          <a:solidFill>
            <a:srgbClr val="404040"/>
          </a:solidFill>
          <a:ln w="12700">
            <a:solidFill>
              <a:srgbClr val="404040"/>
            </a:solidFill>
            <a:prstDash val="solid"/>
          </a:ln>
        </p:spPr>
        <p:txBody>
          <a:bodyPr/>
          <a:lstStyle/>
          <a:p>
            <a:endParaRPr lang="en-US" sz="2000"/>
          </a:p>
        </p:txBody>
      </p:sp>
      <p:sp>
        <p:nvSpPr>
          <p:cNvPr id="14" name="Shape 12"/>
          <p:cNvSpPr/>
          <p:nvPr/>
        </p:nvSpPr>
        <p:spPr>
          <a:xfrm>
            <a:off x="1956816" y="1691640"/>
            <a:ext cx="1572768" cy="2514600"/>
          </a:xfrm>
          <a:prstGeom prst="rect">
            <a:avLst/>
          </a:prstGeom>
          <a:solidFill>
            <a:srgbClr val="1F5C99"/>
          </a:solidFill>
          <a:ln w="12700">
            <a:solidFill>
              <a:srgbClr val="1F5C99"/>
            </a:solidFill>
            <a:prstDash val="solid"/>
          </a:ln>
        </p:spPr>
        <p:txBody>
          <a:bodyPr/>
          <a:lstStyle/>
          <a:p>
            <a:endParaRPr lang="en-US" sz="2000"/>
          </a:p>
        </p:txBody>
      </p:sp>
      <p:sp>
        <p:nvSpPr>
          <p:cNvPr id="15" name="Text 13"/>
          <p:cNvSpPr/>
          <p:nvPr/>
        </p:nvSpPr>
        <p:spPr>
          <a:xfrm>
            <a:off x="2066544" y="1783080"/>
            <a:ext cx="1353312"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6" name="Text 14"/>
          <p:cNvSpPr/>
          <p:nvPr/>
        </p:nvSpPr>
        <p:spPr>
          <a:xfrm>
            <a:off x="2048256" y="2103120"/>
            <a:ext cx="1389888" cy="68580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Debt</a:t>
            </a:r>
            <a:endParaRPr lang="en-US" sz="1400" dirty="0"/>
          </a:p>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Escalates</a:t>
            </a:r>
            <a:endParaRPr lang="en-US" sz="1400" dirty="0"/>
          </a:p>
        </p:txBody>
      </p:sp>
      <p:sp>
        <p:nvSpPr>
          <p:cNvPr id="17" name="Shape 15"/>
          <p:cNvSpPr/>
          <p:nvPr/>
        </p:nvSpPr>
        <p:spPr>
          <a:xfrm>
            <a:off x="2048256" y="2807208"/>
            <a:ext cx="1389888" cy="0"/>
          </a:xfrm>
          <a:prstGeom prst="line">
            <a:avLst/>
          </a:prstGeom>
          <a:noFill/>
          <a:ln w="6350">
            <a:solidFill>
              <a:srgbClr val="FFFFFF">
                <a:alpha val="50000"/>
              </a:srgbClr>
            </a:solidFill>
            <a:prstDash val="solid"/>
          </a:ln>
        </p:spPr>
        <p:txBody>
          <a:bodyPr/>
          <a:lstStyle/>
          <a:p>
            <a:endParaRPr lang="en-US" sz="2000"/>
          </a:p>
        </p:txBody>
      </p:sp>
      <p:sp>
        <p:nvSpPr>
          <p:cNvPr id="18" name="Text 16"/>
          <p:cNvSpPr/>
          <p:nvPr/>
        </p:nvSpPr>
        <p:spPr>
          <a:xfrm>
            <a:off x="2048256" y="2880360"/>
            <a:ext cx="1389888" cy="914400"/>
          </a:xfrm>
          <a:prstGeom prst="rect">
            <a:avLst/>
          </a:prstGeom>
          <a:noFill/>
          <a:ln/>
        </p:spPr>
        <p:txBody>
          <a:bodyPr wrap="square" lIns="0" tIns="0" rIns="0" bIns="0" rtlCol="0" anchor="ctr"/>
          <a:lstStyle/>
          <a:p>
            <a:pPr marL="0" indent="0">
              <a:lnSpc>
                <a:spcPct val="130000"/>
              </a:lnSpc>
              <a:buNone/>
            </a:pPr>
            <a:r>
              <a:rPr lang="en-US" sz="900" dirty="0">
                <a:solidFill>
                  <a:srgbClr val="D0E4F5"/>
                </a:solidFill>
                <a:latin typeface="Calibri" pitchFamily="34" charset="0"/>
                <a:ea typeface="Calibri" pitchFamily="34" charset="-122"/>
                <a:cs typeface="Calibri" pitchFamily="34" charset="-120"/>
              </a:rPr>
              <a:t>Penalties compound on original balance; property goes underwater</a:t>
            </a:r>
            <a:endParaRPr lang="en-US" sz="900" dirty="0"/>
          </a:p>
        </p:txBody>
      </p:sp>
      <p:sp>
        <p:nvSpPr>
          <p:cNvPr id="19" name="Shape 17"/>
          <p:cNvSpPr/>
          <p:nvPr/>
        </p:nvSpPr>
        <p:spPr>
          <a:xfrm>
            <a:off x="2048256" y="3840480"/>
            <a:ext cx="1389888" cy="256032"/>
          </a:xfrm>
          <a:prstGeom prst="rect">
            <a:avLst/>
          </a:prstGeom>
          <a:solidFill>
            <a:srgbClr val="FFFFFF">
              <a:alpha val="20000"/>
            </a:srgbClr>
          </a:solidFill>
          <a:ln w="6350">
            <a:solidFill>
              <a:srgbClr val="FFFFFF">
                <a:alpha val="40000"/>
              </a:srgbClr>
            </a:solidFill>
            <a:prstDash val="solid"/>
          </a:ln>
        </p:spPr>
        <p:txBody>
          <a:bodyPr/>
          <a:lstStyle/>
          <a:p>
            <a:endParaRPr lang="en-US" sz="2000"/>
          </a:p>
        </p:txBody>
      </p:sp>
      <p:sp>
        <p:nvSpPr>
          <p:cNvPr id="20" name="Text 18"/>
          <p:cNvSpPr/>
          <p:nvPr/>
        </p:nvSpPr>
        <p:spPr>
          <a:xfrm>
            <a:off x="2048256" y="3840480"/>
            <a:ext cx="1389888"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Recoverable</a:t>
            </a:r>
            <a:endParaRPr lang="en-US" sz="800" dirty="0"/>
          </a:p>
        </p:txBody>
      </p:sp>
      <p:sp>
        <p:nvSpPr>
          <p:cNvPr id="21" name="Shape 19"/>
          <p:cNvSpPr/>
          <p:nvPr/>
        </p:nvSpPr>
        <p:spPr>
          <a:xfrm>
            <a:off x="3529584" y="2788920"/>
            <a:ext cx="109728" cy="73152"/>
          </a:xfrm>
          <a:prstGeom prst="rect">
            <a:avLst/>
          </a:prstGeom>
          <a:solidFill>
            <a:srgbClr val="404040"/>
          </a:solidFill>
          <a:ln w="12700">
            <a:solidFill>
              <a:srgbClr val="404040"/>
            </a:solidFill>
            <a:prstDash val="solid"/>
          </a:ln>
        </p:spPr>
        <p:txBody>
          <a:bodyPr/>
          <a:lstStyle/>
          <a:p>
            <a:endParaRPr lang="en-US" sz="2000"/>
          </a:p>
        </p:txBody>
      </p:sp>
      <p:sp>
        <p:nvSpPr>
          <p:cNvPr id="22" name="Shape 20"/>
          <p:cNvSpPr/>
          <p:nvPr/>
        </p:nvSpPr>
        <p:spPr>
          <a:xfrm>
            <a:off x="3639312" y="1691640"/>
            <a:ext cx="1572768" cy="2514600"/>
          </a:xfrm>
          <a:prstGeom prst="rect">
            <a:avLst/>
          </a:prstGeom>
          <a:solidFill>
            <a:srgbClr val="17497A"/>
          </a:solidFill>
          <a:ln w="12700">
            <a:solidFill>
              <a:srgbClr val="17497A"/>
            </a:solidFill>
            <a:prstDash val="solid"/>
          </a:ln>
        </p:spPr>
        <p:txBody>
          <a:bodyPr/>
          <a:lstStyle/>
          <a:p>
            <a:endParaRPr lang="en-US" sz="2000"/>
          </a:p>
        </p:txBody>
      </p:sp>
      <p:sp>
        <p:nvSpPr>
          <p:cNvPr id="23" name="Text 21"/>
          <p:cNvSpPr/>
          <p:nvPr/>
        </p:nvSpPr>
        <p:spPr>
          <a:xfrm>
            <a:off x="3749040" y="1783080"/>
            <a:ext cx="1353312"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4" name="Text 22"/>
          <p:cNvSpPr/>
          <p:nvPr/>
        </p:nvSpPr>
        <p:spPr>
          <a:xfrm>
            <a:off x="3730752" y="2103120"/>
            <a:ext cx="1389888" cy="68580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Foreclosure</a:t>
            </a:r>
            <a:endParaRPr lang="en-US" sz="1400" dirty="0"/>
          </a:p>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Filing</a:t>
            </a:r>
            <a:endParaRPr lang="en-US" sz="1400" dirty="0"/>
          </a:p>
        </p:txBody>
      </p:sp>
      <p:sp>
        <p:nvSpPr>
          <p:cNvPr id="25" name="Shape 23"/>
          <p:cNvSpPr/>
          <p:nvPr/>
        </p:nvSpPr>
        <p:spPr>
          <a:xfrm>
            <a:off x="3730752" y="2807208"/>
            <a:ext cx="1389888" cy="0"/>
          </a:xfrm>
          <a:prstGeom prst="line">
            <a:avLst/>
          </a:prstGeom>
          <a:noFill/>
          <a:ln w="6350">
            <a:solidFill>
              <a:srgbClr val="FFFFFF">
                <a:alpha val="50000"/>
              </a:srgbClr>
            </a:solidFill>
            <a:prstDash val="solid"/>
          </a:ln>
        </p:spPr>
        <p:txBody>
          <a:bodyPr/>
          <a:lstStyle/>
          <a:p>
            <a:endParaRPr lang="en-US" sz="2000"/>
          </a:p>
        </p:txBody>
      </p:sp>
      <p:sp>
        <p:nvSpPr>
          <p:cNvPr id="26" name="Text 24"/>
          <p:cNvSpPr/>
          <p:nvPr/>
        </p:nvSpPr>
        <p:spPr>
          <a:xfrm>
            <a:off x="3730752" y="2880360"/>
            <a:ext cx="1389888" cy="914400"/>
          </a:xfrm>
          <a:prstGeom prst="rect">
            <a:avLst/>
          </a:prstGeom>
          <a:noFill/>
          <a:ln/>
        </p:spPr>
        <p:txBody>
          <a:bodyPr wrap="square" lIns="0" tIns="0" rIns="0" bIns="0" rtlCol="0" anchor="ctr"/>
          <a:lstStyle/>
          <a:p>
            <a:pPr marL="0" indent="0">
              <a:lnSpc>
                <a:spcPct val="130000"/>
              </a:lnSpc>
              <a:buNone/>
            </a:pPr>
            <a:r>
              <a:rPr lang="en-US" sz="900" dirty="0">
                <a:solidFill>
                  <a:srgbClr val="D0E4F5"/>
                </a:solidFill>
                <a:latin typeface="Calibri" pitchFamily="34" charset="0"/>
                <a:ea typeface="Calibri" pitchFamily="34" charset="-122"/>
                <a:cs typeface="Calibri" pitchFamily="34" charset="-120"/>
              </a:rPr>
              <a:t>Owner loses property through legal process; new foreclosure case filed</a:t>
            </a:r>
            <a:endParaRPr lang="en-US" sz="900" dirty="0"/>
          </a:p>
        </p:txBody>
      </p:sp>
      <p:sp>
        <p:nvSpPr>
          <p:cNvPr id="27" name="Shape 25"/>
          <p:cNvSpPr/>
          <p:nvPr/>
        </p:nvSpPr>
        <p:spPr>
          <a:xfrm>
            <a:off x="3730752" y="3840480"/>
            <a:ext cx="1389888" cy="256032"/>
          </a:xfrm>
          <a:prstGeom prst="rect">
            <a:avLst/>
          </a:prstGeom>
          <a:solidFill>
            <a:srgbClr val="FFFFFF">
              <a:alpha val="20000"/>
            </a:srgbClr>
          </a:solidFill>
          <a:ln w="6350">
            <a:solidFill>
              <a:srgbClr val="FFFFFF">
                <a:alpha val="40000"/>
              </a:srgbClr>
            </a:solidFill>
            <a:prstDash val="solid"/>
          </a:ln>
        </p:spPr>
        <p:txBody>
          <a:bodyPr/>
          <a:lstStyle/>
          <a:p>
            <a:endParaRPr lang="en-US" sz="2000"/>
          </a:p>
        </p:txBody>
      </p:sp>
      <p:sp>
        <p:nvSpPr>
          <p:cNvPr id="28" name="Text 26"/>
          <p:cNvSpPr/>
          <p:nvPr/>
        </p:nvSpPr>
        <p:spPr>
          <a:xfrm>
            <a:off x="3730752" y="3840480"/>
            <a:ext cx="1389888"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Borderline</a:t>
            </a:r>
            <a:endParaRPr lang="en-US" sz="800" dirty="0"/>
          </a:p>
        </p:txBody>
      </p:sp>
      <p:sp>
        <p:nvSpPr>
          <p:cNvPr id="29" name="Shape 27"/>
          <p:cNvSpPr/>
          <p:nvPr/>
        </p:nvSpPr>
        <p:spPr>
          <a:xfrm>
            <a:off x="5212080" y="2788920"/>
            <a:ext cx="109728" cy="73152"/>
          </a:xfrm>
          <a:prstGeom prst="rect">
            <a:avLst/>
          </a:prstGeom>
          <a:solidFill>
            <a:srgbClr val="404040"/>
          </a:solidFill>
          <a:ln w="12700">
            <a:solidFill>
              <a:srgbClr val="404040"/>
            </a:solidFill>
            <a:prstDash val="solid"/>
          </a:ln>
        </p:spPr>
        <p:txBody>
          <a:bodyPr/>
          <a:lstStyle/>
          <a:p>
            <a:endParaRPr lang="en-US" sz="2000"/>
          </a:p>
        </p:txBody>
      </p:sp>
      <p:sp>
        <p:nvSpPr>
          <p:cNvPr id="30" name="Shape 28"/>
          <p:cNvSpPr/>
          <p:nvPr/>
        </p:nvSpPr>
        <p:spPr>
          <a:xfrm>
            <a:off x="5321808" y="1691640"/>
            <a:ext cx="1572768" cy="2514600"/>
          </a:xfrm>
          <a:prstGeom prst="rect">
            <a:avLst/>
          </a:prstGeom>
          <a:solidFill>
            <a:srgbClr val="C00000"/>
          </a:solidFill>
          <a:ln w="12700">
            <a:solidFill>
              <a:srgbClr val="C00000"/>
            </a:solidFill>
            <a:prstDash val="solid"/>
          </a:ln>
        </p:spPr>
        <p:txBody>
          <a:bodyPr/>
          <a:lstStyle/>
          <a:p>
            <a:endParaRPr lang="en-US" sz="2000"/>
          </a:p>
        </p:txBody>
      </p:sp>
      <p:sp>
        <p:nvSpPr>
          <p:cNvPr id="31" name="Text 29"/>
          <p:cNvSpPr/>
          <p:nvPr/>
        </p:nvSpPr>
        <p:spPr>
          <a:xfrm>
            <a:off x="5431536" y="1783080"/>
            <a:ext cx="1353312"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32" name="Text 30"/>
          <p:cNvSpPr/>
          <p:nvPr/>
        </p:nvSpPr>
        <p:spPr>
          <a:xfrm>
            <a:off x="5413248" y="2103120"/>
            <a:ext cx="1389888" cy="68580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City</a:t>
            </a:r>
            <a:endParaRPr lang="en-US" sz="1400" dirty="0"/>
          </a:p>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Demolition</a:t>
            </a:r>
            <a:endParaRPr lang="en-US" sz="1400" dirty="0"/>
          </a:p>
        </p:txBody>
      </p:sp>
      <p:sp>
        <p:nvSpPr>
          <p:cNvPr id="33" name="Shape 31"/>
          <p:cNvSpPr/>
          <p:nvPr/>
        </p:nvSpPr>
        <p:spPr>
          <a:xfrm>
            <a:off x="5413248" y="2807208"/>
            <a:ext cx="1389888" cy="0"/>
          </a:xfrm>
          <a:prstGeom prst="line">
            <a:avLst/>
          </a:prstGeom>
          <a:noFill/>
          <a:ln w="6350">
            <a:solidFill>
              <a:srgbClr val="FFFFFF">
                <a:alpha val="50000"/>
              </a:srgbClr>
            </a:solidFill>
            <a:prstDash val="solid"/>
          </a:ln>
        </p:spPr>
        <p:txBody>
          <a:bodyPr/>
          <a:lstStyle/>
          <a:p>
            <a:endParaRPr lang="en-US" sz="2000"/>
          </a:p>
        </p:txBody>
      </p:sp>
      <p:sp>
        <p:nvSpPr>
          <p:cNvPr id="34" name="Text 32"/>
          <p:cNvSpPr/>
          <p:nvPr/>
        </p:nvSpPr>
        <p:spPr>
          <a:xfrm>
            <a:off x="5413248" y="2880360"/>
            <a:ext cx="1389888" cy="914400"/>
          </a:xfrm>
          <a:prstGeom prst="rect">
            <a:avLst/>
          </a:prstGeom>
          <a:noFill/>
          <a:ln/>
        </p:spPr>
        <p:txBody>
          <a:bodyPr wrap="square" lIns="0" tIns="0" rIns="0" bIns="0" rtlCol="0" anchor="ctr"/>
          <a:lstStyle/>
          <a:p>
            <a:pPr marL="0" indent="0">
              <a:lnSpc>
                <a:spcPct val="130000"/>
              </a:lnSpc>
              <a:buNone/>
            </a:pPr>
            <a:r>
              <a:rPr lang="en-US" sz="900" dirty="0">
                <a:solidFill>
                  <a:srgbClr val="D0E4F5"/>
                </a:solidFill>
                <a:latin typeface="Calibri" pitchFamily="34" charset="0"/>
                <a:ea typeface="Calibri" pitchFamily="34" charset="-122"/>
                <a:cs typeface="Calibri" pitchFamily="34" charset="-120"/>
              </a:rPr>
              <a:t>City removes unsafe/abandoned structure; demolition lien placed</a:t>
            </a:r>
            <a:endParaRPr lang="en-US" sz="900" dirty="0"/>
          </a:p>
        </p:txBody>
      </p:sp>
      <p:sp>
        <p:nvSpPr>
          <p:cNvPr id="35" name="Shape 33"/>
          <p:cNvSpPr/>
          <p:nvPr/>
        </p:nvSpPr>
        <p:spPr>
          <a:xfrm>
            <a:off x="5413248" y="3840480"/>
            <a:ext cx="1389888" cy="256032"/>
          </a:xfrm>
          <a:prstGeom prst="rect">
            <a:avLst/>
          </a:prstGeom>
          <a:solidFill>
            <a:srgbClr val="FFFFFF">
              <a:alpha val="20000"/>
            </a:srgbClr>
          </a:solidFill>
          <a:ln w="6350">
            <a:solidFill>
              <a:srgbClr val="FFFFFF">
                <a:alpha val="40000"/>
              </a:srgbClr>
            </a:solidFill>
            <a:prstDash val="solid"/>
          </a:ln>
        </p:spPr>
        <p:txBody>
          <a:bodyPr/>
          <a:lstStyle/>
          <a:p>
            <a:endParaRPr lang="en-US" sz="2000"/>
          </a:p>
        </p:txBody>
      </p:sp>
      <p:sp>
        <p:nvSpPr>
          <p:cNvPr id="36" name="Text 34"/>
          <p:cNvSpPr/>
          <p:nvPr/>
        </p:nvSpPr>
        <p:spPr>
          <a:xfrm>
            <a:off x="5413248" y="3840480"/>
            <a:ext cx="1389888"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Point of no return</a:t>
            </a:r>
            <a:endParaRPr lang="en-US" sz="800" dirty="0"/>
          </a:p>
        </p:txBody>
      </p:sp>
      <p:sp>
        <p:nvSpPr>
          <p:cNvPr id="37" name="Shape 35"/>
          <p:cNvSpPr/>
          <p:nvPr/>
        </p:nvSpPr>
        <p:spPr>
          <a:xfrm>
            <a:off x="6894576" y="2788920"/>
            <a:ext cx="109728" cy="73152"/>
          </a:xfrm>
          <a:prstGeom prst="rect">
            <a:avLst/>
          </a:prstGeom>
          <a:solidFill>
            <a:srgbClr val="404040"/>
          </a:solidFill>
          <a:ln w="12700">
            <a:solidFill>
              <a:srgbClr val="404040"/>
            </a:solidFill>
            <a:prstDash val="solid"/>
          </a:ln>
        </p:spPr>
        <p:txBody>
          <a:bodyPr/>
          <a:lstStyle/>
          <a:p>
            <a:endParaRPr lang="en-US" sz="2000"/>
          </a:p>
        </p:txBody>
      </p:sp>
      <p:sp>
        <p:nvSpPr>
          <p:cNvPr id="38" name="Shape 36"/>
          <p:cNvSpPr/>
          <p:nvPr/>
        </p:nvSpPr>
        <p:spPr>
          <a:xfrm>
            <a:off x="7004304" y="1691640"/>
            <a:ext cx="1572768" cy="2514600"/>
          </a:xfrm>
          <a:prstGeom prst="rect">
            <a:avLst/>
          </a:prstGeom>
          <a:solidFill>
            <a:srgbClr val="7B0000"/>
          </a:solidFill>
          <a:ln w="12700">
            <a:solidFill>
              <a:srgbClr val="7B0000"/>
            </a:solidFill>
            <a:prstDash val="solid"/>
          </a:ln>
        </p:spPr>
        <p:txBody>
          <a:bodyPr/>
          <a:lstStyle/>
          <a:p>
            <a:endParaRPr lang="en-US" sz="2000"/>
          </a:p>
        </p:txBody>
      </p:sp>
      <p:sp>
        <p:nvSpPr>
          <p:cNvPr id="39" name="Text 37"/>
          <p:cNvSpPr/>
          <p:nvPr/>
        </p:nvSpPr>
        <p:spPr>
          <a:xfrm>
            <a:off x="7114032" y="1783080"/>
            <a:ext cx="1353312"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40" name="Text 38"/>
          <p:cNvSpPr/>
          <p:nvPr/>
        </p:nvSpPr>
        <p:spPr>
          <a:xfrm>
            <a:off x="7095744" y="2103120"/>
            <a:ext cx="1389888" cy="68580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Permanent</a:t>
            </a:r>
            <a:endParaRPr lang="en-US" sz="1400" dirty="0"/>
          </a:p>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Vacancy</a:t>
            </a:r>
            <a:endParaRPr lang="en-US" sz="1400" dirty="0"/>
          </a:p>
        </p:txBody>
      </p:sp>
      <p:sp>
        <p:nvSpPr>
          <p:cNvPr id="41" name="Shape 39"/>
          <p:cNvSpPr/>
          <p:nvPr/>
        </p:nvSpPr>
        <p:spPr>
          <a:xfrm>
            <a:off x="7095744" y="2807208"/>
            <a:ext cx="1389888" cy="0"/>
          </a:xfrm>
          <a:prstGeom prst="line">
            <a:avLst/>
          </a:prstGeom>
          <a:noFill/>
          <a:ln w="6350">
            <a:solidFill>
              <a:srgbClr val="FFFFFF">
                <a:alpha val="50000"/>
              </a:srgbClr>
            </a:solidFill>
            <a:prstDash val="solid"/>
          </a:ln>
        </p:spPr>
        <p:txBody>
          <a:bodyPr/>
          <a:lstStyle/>
          <a:p>
            <a:endParaRPr lang="en-US" sz="2000"/>
          </a:p>
        </p:txBody>
      </p:sp>
      <p:sp>
        <p:nvSpPr>
          <p:cNvPr id="42" name="Text 40"/>
          <p:cNvSpPr/>
          <p:nvPr/>
        </p:nvSpPr>
        <p:spPr>
          <a:xfrm>
            <a:off x="7095744" y="2880360"/>
            <a:ext cx="1389888" cy="914400"/>
          </a:xfrm>
          <a:prstGeom prst="rect">
            <a:avLst/>
          </a:prstGeom>
          <a:noFill/>
          <a:ln/>
        </p:spPr>
        <p:txBody>
          <a:bodyPr wrap="square" lIns="0" tIns="0" rIns="0" bIns="0" rtlCol="0" anchor="ctr"/>
          <a:lstStyle/>
          <a:p>
            <a:pPr marL="0" indent="0">
              <a:lnSpc>
                <a:spcPct val="130000"/>
              </a:lnSpc>
              <a:buNone/>
            </a:pPr>
            <a:r>
              <a:rPr lang="en-US" sz="900" dirty="0">
                <a:solidFill>
                  <a:srgbClr val="D0E4F5"/>
                </a:solidFill>
                <a:latin typeface="Calibri" pitchFamily="34" charset="0"/>
                <a:ea typeface="Calibri" pitchFamily="34" charset="-122"/>
                <a:cs typeface="Calibri" pitchFamily="34" charset="-120"/>
              </a:rPr>
              <a:t>Parcel classified as vacant land; zero revenue, indefinite city cost</a:t>
            </a:r>
            <a:endParaRPr lang="en-US" sz="900" dirty="0"/>
          </a:p>
        </p:txBody>
      </p:sp>
      <p:sp>
        <p:nvSpPr>
          <p:cNvPr id="43" name="Shape 41"/>
          <p:cNvSpPr/>
          <p:nvPr/>
        </p:nvSpPr>
        <p:spPr>
          <a:xfrm>
            <a:off x="7095744" y="3840480"/>
            <a:ext cx="1389888" cy="256032"/>
          </a:xfrm>
          <a:prstGeom prst="rect">
            <a:avLst/>
          </a:prstGeom>
          <a:solidFill>
            <a:srgbClr val="FFFFFF">
              <a:alpha val="20000"/>
            </a:srgbClr>
          </a:solidFill>
          <a:ln w="6350">
            <a:solidFill>
              <a:srgbClr val="FFFFFF">
                <a:alpha val="40000"/>
              </a:srgbClr>
            </a:solidFill>
            <a:prstDash val="solid"/>
          </a:ln>
        </p:spPr>
        <p:txBody>
          <a:bodyPr/>
          <a:lstStyle/>
          <a:p>
            <a:endParaRPr lang="en-US" sz="2000"/>
          </a:p>
        </p:txBody>
      </p:sp>
      <p:sp>
        <p:nvSpPr>
          <p:cNvPr id="44" name="Text 42"/>
          <p:cNvSpPr/>
          <p:nvPr/>
        </p:nvSpPr>
        <p:spPr>
          <a:xfrm>
            <a:off x="7095744" y="3840480"/>
            <a:ext cx="1389888"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Final outcome</a:t>
            </a:r>
            <a:endParaRPr lang="en-US" sz="800" dirty="0"/>
          </a:p>
        </p:txBody>
      </p:sp>
      <p:sp>
        <p:nvSpPr>
          <p:cNvPr id="45" name="Text 43"/>
          <p:cNvSpPr/>
          <p:nvPr/>
        </p:nvSpPr>
        <p:spPr>
          <a:xfrm>
            <a:off x="457200" y="4343400"/>
            <a:ext cx="8229600" cy="365760"/>
          </a:xfrm>
          <a:prstGeom prst="rect">
            <a:avLst/>
          </a:prstGeom>
          <a:noFill/>
          <a:ln/>
        </p:spPr>
        <p:txBody>
          <a:bodyPr wrap="square" rtlCol="0" anchor="ctr"/>
          <a:lstStyle/>
          <a:p>
            <a:pPr marL="0" indent="0" algn="ctr">
              <a:buNone/>
            </a:pPr>
            <a:r>
              <a:rPr lang="en-US" sz="1000" i="1" dirty="0">
                <a:solidFill>
                  <a:srgbClr val="595959"/>
                </a:solidFill>
                <a:latin typeface="Calibri" pitchFamily="34" charset="0"/>
                <a:ea typeface="Calibri" pitchFamily="34" charset="-122"/>
                <a:cs typeface="Calibri" pitchFamily="34" charset="-120"/>
              </a:rPr>
              <a:t>Data exists at each pipeline stage — enabling proactive identification of wards at risk before reaching the point of no return.</a:t>
            </a:r>
            <a:endParaRPr lang="en-US" sz="1000" dirty="0"/>
          </a:p>
        </p:txBody>
      </p:sp>
      <p:sp>
        <p:nvSpPr>
          <p:cNvPr id="46" name="Shape 44"/>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47" name="Text 45"/>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48" name="Text 46"/>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RESEARCH QUESTIONS</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Two Questions Drive the Entire Analytical Framework</a:t>
            </a:r>
            <a:endParaRPr lang="en-US" sz="2400" dirty="0"/>
          </a:p>
        </p:txBody>
      </p:sp>
      <p:sp>
        <p:nvSpPr>
          <p:cNvPr id="5" name="Shape 3"/>
          <p:cNvSpPr/>
          <p:nvPr/>
        </p:nvSpPr>
        <p:spPr>
          <a:xfrm>
            <a:off x="457200" y="1234440"/>
            <a:ext cx="8229600" cy="0"/>
          </a:xfrm>
          <a:prstGeom prst="line">
            <a:avLst/>
          </a:prstGeom>
          <a:noFill/>
          <a:ln w="6350">
            <a:solidFill>
              <a:srgbClr val="D0D7E3"/>
            </a:solidFill>
            <a:prstDash val="solid"/>
          </a:ln>
        </p:spPr>
        <p:txBody>
          <a:bodyPr/>
          <a:lstStyle/>
          <a:p>
            <a:endParaRPr lang="en-US" sz="2000"/>
          </a:p>
        </p:txBody>
      </p:sp>
      <p:sp>
        <p:nvSpPr>
          <p:cNvPr id="6" name="Shape 4"/>
          <p:cNvSpPr/>
          <p:nvPr/>
        </p:nvSpPr>
        <p:spPr>
          <a:xfrm>
            <a:off x="457200" y="1371600"/>
            <a:ext cx="4251960" cy="3337560"/>
          </a:xfrm>
          <a:prstGeom prst="rect">
            <a:avLst/>
          </a:prstGeom>
          <a:solidFill>
            <a:srgbClr val="F5F5F5"/>
          </a:solidFill>
          <a:ln w="6350">
            <a:solidFill>
              <a:srgbClr val="D6DCE4"/>
            </a:solidFill>
            <a:prstDash val="solid"/>
          </a:ln>
        </p:spPr>
        <p:txBody>
          <a:bodyPr/>
          <a:lstStyle/>
          <a:p>
            <a:endParaRPr lang="en-US" sz="2000"/>
          </a:p>
        </p:txBody>
      </p:sp>
      <p:sp>
        <p:nvSpPr>
          <p:cNvPr id="7" name="Shape 5"/>
          <p:cNvSpPr/>
          <p:nvPr/>
        </p:nvSpPr>
        <p:spPr>
          <a:xfrm>
            <a:off x="457200" y="1371600"/>
            <a:ext cx="4251960" cy="457200"/>
          </a:xfrm>
          <a:prstGeom prst="rect">
            <a:avLst/>
          </a:prstGeom>
          <a:solidFill>
            <a:srgbClr val="2E75B6"/>
          </a:solidFill>
          <a:ln w="12700">
            <a:solidFill>
              <a:srgbClr val="2E75B6"/>
            </a:solidFill>
            <a:prstDash val="solid"/>
          </a:ln>
        </p:spPr>
        <p:txBody>
          <a:bodyPr/>
          <a:lstStyle/>
          <a:p>
            <a:endParaRPr lang="en-US" sz="2000"/>
          </a:p>
        </p:txBody>
      </p:sp>
      <p:sp>
        <p:nvSpPr>
          <p:cNvPr id="8" name="Text 6"/>
          <p:cNvSpPr/>
          <p:nvPr/>
        </p:nvSpPr>
        <p:spPr>
          <a:xfrm>
            <a:off x="594360" y="1371600"/>
            <a:ext cx="39776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Q1  ·  Early Warning Detection</a:t>
            </a:r>
            <a:endParaRPr lang="en-US" sz="1200" dirty="0"/>
          </a:p>
        </p:txBody>
      </p:sp>
      <p:sp>
        <p:nvSpPr>
          <p:cNvPr id="9" name="Text 7"/>
          <p:cNvSpPr/>
          <p:nvPr/>
        </p:nvSpPr>
        <p:spPr>
          <a:xfrm>
            <a:off x="640080" y="1920240"/>
            <a:ext cx="3886200" cy="777240"/>
          </a:xfrm>
          <a:prstGeom prst="rect">
            <a:avLst/>
          </a:prstGeom>
          <a:noFill/>
          <a:ln/>
        </p:spPr>
        <p:txBody>
          <a:bodyPr wrap="square" lIns="0" tIns="0" rIns="0" bIns="0" rtlCol="0" anchor="ctr"/>
          <a:lstStyle/>
          <a:p>
            <a:pPr marL="0" indent="0">
              <a:lnSpc>
                <a:spcPct val="130000"/>
              </a:lnSpc>
              <a:buNone/>
            </a:pPr>
            <a:r>
              <a:rPr lang="en-US" sz="1400" b="1" dirty="0">
                <a:solidFill>
                  <a:srgbClr val="1A2744"/>
                </a:solidFill>
                <a:latin typeface="Calibri" pitchFamily="34" charset="0"/>
                <a:ea typeface="Calibri" pitchFamily="34" charset="-122"/>
                <a:cs typeface="Calibri" pitchFamily="34" charset="-120"/>
              </a:rPr>
              <a:t>Which wards show early warning signs of future housing instability?</a:t>
            </a:r>
            <a:endParaRPr lang="en-US" sz="1400" dirty="0"/>
          </a:p>
        </p:txBody>
      </p:sp>
      <p:sp>
        <p:nvSpPr>
          <p:cNvPr id="10" name="Shape 8"/>
          <p:cNvSpPr/>
          <p:nvPr/>
        </p:nvSpPr>
        <p:spPr>
          <a:xfrm>
            <a:off x="457200" y="2788920"/>
            <a:ext cx="8229600" cy="0"/>
          </a:xfrm>
          <a:prstGeom prst="line">
            <a:avLst/>
          </a:prstGeom>
          <a:noFill/>
          <a:ln w="6350">
            <a:solidFill>
              <a:srgbClr val="D0D7E3"/>
            </a:solidFill>
            <a:prstDash val="solid"/>
          </a:ln>
        </p:spPr>
        <p:txBody>
          <a:bodyPr/>
          <a:lstStyle/>
          <a:p>
            <a:endParaRPr lang="en-US" sz="2000"/>
          </a:p>
        </p:txBody>
      </p:sp>
      <p:sp>
        <p:nvSpPr>
          <p:cNvPr id="11" name="Text 9"/>
          <p:cNvSpPr/>
          <p:nvPr/>
        </p:nvSpPr>
        <p:spPr>
          <a:xfrm>
            <a:off x="640080" y="2852928"/>
            <a:ext cx="3886200" cy="228600"/>
          </a:xfrm>
          <a:prstGeom prst="rect">
            <a:avLst/>
          </a:prstGeom>
          <a:noFill/>
          <a:ln/>
        </p:spPr>
        <p:txBody>
          <a:bodyPr wrap="square" lIns="0" tIns="0" rIns="0" bIns="0" rtlCol="0" anchor="ctr"/>
          <a:lstStyle/>
          <a:p>
            <a:pPr marL="0" indent="0">
              <a:buNone/>
            </a:pPr>
            <a:r>
              <a:rPr lang="en-US" sz="900" b="1" dirty="0">
                <a:solidFill>
                  <a:srgbClr val="2E75B6"/>
                </a:solidFill>
                <a:latin typeface="Calibri" pitchFamily="34" charset="0"/>
                <a:ea typeface="Calibri" pitchFamily="34" charset="-122"/>
                <a:cs typeface="Calibri" pitchFamily="34" charset="-120"/>
              </a:rPr>
              <a:t>Why it matters</a:t>
            </a:r>
            <a:endParaRPr lang="en-US" sz="900" dirty="0"/>
          </a:p>
        </p:txBody>
      </p:sp>
      <p:sp>
        <p:nvSpPr>
          <p:cNvPr id="12" name="Text 10"/>
          <p:cNvSpPr/>
          <p:nvPr/>
        </p:nvSpPr>
        <p:spPr>
          <a:xfrm>
            <a:off x="640080" y="3072384"/>
            <a:ext cx="3886200" cy="594360"/>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Identifies where the pipeline is just starting — where intervention can still interrupt the cycle before costs escalate.</a:t>
            </a:r>
            <a:endParaRPr lang="en-US" sz="1000" dirty="0"/>
          </a:p>
        </p:txBody>
      </p:sp>
      <p:sp>
        <p:nvSpPr>
          <p:cNvPr id="13" name="Text 11"/>
          <p:cNvSpPr/>
          <p:nvPr/>
        </p:nvSpPr>
        <p:spPr>
          <a:xfrm>
            <a:off x="640080" y="3730752"/>
            <a:ext cx="3886200" cy="228600"/>
          </a:xfrm>
          <a:prstGeom prst="rect">
            <a:avLst/>
          </a:prstGeom>
          <a:noFill/>
          <a:ln/>
        </p:spPr>
        <p:txBody>
          <a:bodyPr wrap="square" lIns="0" tIns="0" rIns="0" bIns="0" rtlCol="0" anchor="ctr"/>
          <a:lstStyle/>
          <a:p>
            <a:pPr marL="0" indent="0">
              <a:buNone/>
            </a:pPr>
            <a:r>
              <a:rPr lang="en-US" sz="900" b="1" dirty="0">
                <a:solidFill>
                  <a:srgbClr val="2E75B6"/>
                </a:solidFill>
                <a:latin typeface="Calibri" pitchFamily="34" charset="0"/>
                <a:ea typeface="Calibri" pitchFamily="34" charset="-122"/>
                <a:cs typeface="Calibri" pitchFamily="34" charset="-120"/>
              </a:rPr>
              <a:t>Methodology</a:t>
            </a:r>
            <a:endParaRPr lang="en-US" sz="900" dirty="0"/>
          </a:p>
        </p:txBody>
      </p:sp>
      <p:sp>
        <p:nvSpPr>
          <p:cNvPr id="14" name="Text 12"/>
          <p:cNvSpPr/>
          <p:nvPr/>
        </p:nvSpPr>
        <p:spPr>
          <a:xfrm>
            <a:off x="640080" y="3950208"/>
            <a:ext cx="3886200" cy="502920"/>
          </a:xfrm>
          <a:prstGeom prst="rect">
            <a:avLst/>
          </a:prstGeom>
          <a:noFill/>
          <a:ln/>
        </p:spPr>
        <p:txBody>
          <a:bodyPr wrap="square" lIns="0" tIns="0" rIns="0" bIns="0" rtlCol="0" anchor="ctr"/>
          <a:lstStyle/>
          <a:p>
            <a:pPr marL="0" indent="0">
              <a:lnSpc>
                <a:spcPct val="130000"/>
              </a:lnSpc>
              <a:buNone/>
            </a:pPr>
            <a:r>
              <a:rPr lang="en-US" sz="1000" i="1" dirty="0">
                <a:solidFill>
                  <a:srgbClr val="595959"/>
                </a:solidFill>
                <a:latin typeface="Calibri" pitchFamily="34" charset="0"/>
                <a:ea typeface="Calibri" pitchFamily="34" charset="-122"/>
                <a:cs typeface="Calibri" pitchFamily="34" charset="-120"/>
              </a:rPr>
              <a:t>Choropleth mapping of each distress variable at the ward level</a:t>
            </a:r>
            <a:endParaRPr lang="en-US" sz="1000" dirty="0"/>
          </a:p>
        </p:txBody>
      </p:sp>
      <p:sp>
        <p:nvSpPr>
          <p:cNvPr id="15" name="Shape 13"/>
          <p:cNvSpPr/>
          <p:nvPr/>
        </p:nvSpPr>
        <p:spPr>
          <a:xfrm>
            <a:off x="4892040" y="1371600"/>
            <a:ext cx="4251960" cy="3337560"/>
          </a:xfrm>
          <a:prstGeom prst="rect">
            <a:avLst/>
          </a:prstGeom>
          <a:solidFill>
            <a:srgbClr val="F5F5F5"/>
          </a:solidFill>
          <a:ln w="6350">
            <a:solidFill>
              <a:srgbClr val="D6DCE4"/>
            </a:solidFill>
            <a:prstDash val="solid"/>
          </a:ln>
        </p:spPr>
        <p:txBody>
          <a:bodyPr/>
          <a:lstStyle/>
          <a:p>
            <a:endParaRPr lang="en-US" sz="2000"/>
          </a:p>
        </p:txBody>
      </p:sp>
      <p:sp>
        <p:nvSpPr>
          <p:cNvPr id="16" name="Shape 14"/>
          <p:cNvSpPr/>
          <p:nvPr/>
        </p:nvSpPr>
        <p:spPr>
          <a:xfrm>
            <a:off x="4892040" y="1371600"/>
            <a:ext cx="4251960" cy="457200"/>
          </a:xfrm>
          <a:prstGeom prst="rect">
            <a:avLst/>
          </a:prstGeom>
          <a:solidFill>
            <a:srgbClr val="C00000"/>
          </a:solidFill>
          <a:ln w="12700">
            <a:solidFill>
              <a:srgbClr val="C00000"/>
            </a:solidFill>
            <a:prstDash val="solid"/>
          </a:ln>
        </p:spPr>
        <p:txBody>
          <a:bodyPr/>
          <a:lstStyle/>
          <a:p>
            <a:endParaRPr lang="en-US" sz="2000"/>
          </a:p>
        </p:txBody>
      </p:sp>
      <p:sp>
        <p:nvSpPr>
          <p:cNvPr id="17" name="Text 15"/>
          <p:cNvSpPr/>
          <p:nvPr/>
        </p:nvSpPr>
        <p:spPr>
          <a:xfrm>
            <a:off x="5029200" y="1371600"/>
            <a:ext cx="39776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Q2  ·  Overlap &amp; Severity</a:t>
            </a:r>
            <a:endParaRPr lang="en-US" sz="1200" dirty="0"/>
          </a:p>
        </p:txBody>
      </p:sp>
      <p:sp>
        <p:nvSpPr>
          <p:cNvPr id="18" name="Text 16"/>
          <p:cNvSpPr/>
          <p:nvPr/>
        </p:nvSpPr>
        <p:spPr>
          <a:xfrm>
            <a:off x="5074920" y="1920240"/>
            <a:ext cx="3886200" cy="777240"/>
          </a:xfrm>
          <a:prstGeom prst="rect">
            <a:avLst/>
          </a:prstGeom>
          <a:noFill/>
          <a:ln/>
        </p:spPr>
        <p:txBody>
          <a:bodyPr wrap="square" lIns="0" tIns="0" rIns="0" bIns="0" rtlCol="0" anchor="ctr"/>
          <a:lstStyle/>
          <a:p>
            <a:pPr marL="0" indent="0">
              <a:lnSpc>
                <a:spcPct val="130000"/>
              </a:lnSpc>
              <a:buNone/>
            </a:pPr>
            <a:r>
              <a:rPr lang="en-US" sz="1400" b="1" dirty="0">
                <a:solidFill>
                  <a:srgbClr val="1A2744"/>
                </a:solidFill>
                <a:latin typeface="Calibri" pitchFamily="34" charset="0"/>
                <a:ea typeface="Calibri" pitchFamily="34" charset="-122"/>
                <a:cs typeface="Calibri" pitchFamily="34" charset="-120"/>
              </a:rPr>
              <a:t>In what wards do multiple stages of housing distress overlap simultaneously?</a:t>
            </a:r>
            <a:endParaRPr lang="en-US" sz="1400" dirty="0"/>
          </a:p>
        </p:txBody>
      </p:sp>
      <p:sp>
        <p:nvSpPr>
          <p:cNvPr id="19" name="Shape 17"/>
          <p:cNvSpPr/>
          <p:nvPr/>
        </p:nvSpPr>
        <p:spPr>
          <a:xfrm>
            <a:off x="457200" y="2788920"/>
            <a:ext cx="8229600" cy="0"/>
          </a:xfrm>
          <a:prstGeom prst="line">
            <a:avLst/>
          </a:prstGeom>
          <a:noFill/>
          <a:ln w="6350">
            <a:solidFill>
              <a:srgbClr val="D0D7E3"/>
            </a:solidFill>
            <a:prstDash val="solid"/>
          </a:ln>
        </p:spPr>
        <p:txBody>
          <a:bodyPr/>
          <a:lstStyle/>
          <a:p>
            <a:endParaRPr lang="en-US" sz="2000"/>
          </a:p>
        </p:txBody>
      </p:sp>
      <p:sp>
        <p:nvSpPr>
          <p:cNvPr id="20" name="Text 18"/>
          <p:cNvSpPr/>
          <p:nvPr/>
        </p:nvSpPr>
        <p:spPr>
          <a:xfrm>
            <a:off x="5074920" y="2852928"/>
            <a:ext cx="3886200" cy="228600"/>
          </a:xfrm>
          <a:prstGeom prst="rect">
            <a:avLst/>
          </a:prstGeom>
          <a:noFill/>
          <a:ln/>
        </p:spPr>
        <p:txBody>
          <a:bodyPr wrap="square" lIns="0" tIns="0" rIns="0" bIns="0" rtlCol="0" anchor="ctr"/>
          <a:lstStyle/>
          <a:p>
            <a:pPr marL="0" indent="0">
              <a:buNone/>
            </a:pPr>
            <a:r>
              <a:rPr lang="en-US" sz="900" b="1" dirty="0">
                <a:solidFill>
                  <a:srgbClr val="C00000"/>
                </a:solidFill>
                <a:latin typeface="Calibri" pitchFamily="34" charset="0"/>
                <a:ea typeface="Calibri" pitchFamily="34" charset="-122"/>
                <a:cs typeface="Calibri" pitchFamily="34" charset="-120"/>
              </a:rPr>
              <a:t>Why it matters</a:t>
            </a:r>
            <a:endParaRPr lang="en-US" sz="900" dirty="0"/>
          </a:p>
        </p:txBody>
      </p:sp>
      <p:sp>
        <p:nvSpPr>
          <p:cNvPr id="21" name="Text 19"/>
          <p:cNvSpPr/>
          <p:nvPr/>
        </p:nvSpPr>
        <p:spPr>
          <a:xfrm>
            <a:off x="5074920" y="3072384"/>
            <a:ext cx="3886200" cy="594360"/>
          </a:xfrm>
          <a:prstGeom prst="rect">
            <a:avLst/>
          </a:prstGeom>
          <a:noFill/>
          <a:ln/>
        </p:spPr>
        <p:txBody>
          <a:bodyPr wrap="square" lIns="0" tIns="0" rIns="0" bIns="0" rtlCol="0" anchor="ctr"/>
          <a:lstStyle/>
          <a:p>
            <a:pPr marL="0" indent="0">
              <a:lnSpc>
                <a:spcPct val="130000"/>
              </a:lnSpc>
              <a:buNone/>
            </a:pPr>
            <a:r>
              <a:rPr lang="en-US" sz="1000" dirty="0">
                <a:solidFill>
                  <a:srgbClr val="595959"/>
                </a:solidFill>
                <a:latin typeface="Calibri" pitchFamily="34" charset="0"/>
                <a:ea typeface="Calibri" pitchFamily="34" charset="-122"/>
                <a:cs typeface="Calibri" pitchFamily="34" charset="-120"/>
              </a:rPr>
              <a:t>Wards appearing in every dataset are not entering the cycle — they are deep inside it. They require a different policy response.</a:t>
            </a:r>
            <a:endParaRPr lang="en-US" sz="1000" dirty="0"/>
          </a:p>
        </p:txBody>
      </p:sp>
      <p:sp>
        <p:nvSpPr>
          <p:cNvPr id="22" name="Text 20"/>
          <p:cNvSpPr/>
          <p:nvPr/>
        </p:nvSpPr>
        <p:spPr>
          <a:xfrm>
            <a:off x="5074920" y="3730752"/>
            <a:ext cx="3886200" cy="228600"/>
          </a:xfrm>
          <a:prstGeom prst="rect">
            <a:avLst/>
          </a:prstGeom>
          <a:noFill/>
          <a:ln/>
        </p:spPr>
        <p:txBody>
          <a:bodyPr wrap="square" lIns="0" tIns="0" rIns="0" bIns="0" rtlCol="0" anchor="ctr"/>
          <a:lstStyle/>
          <a:p>
            <a:pPr marL="0" indent="0">
              <a:buNone/>
            </a:pPr>
            <a:r>
              <a:rPr lang="en-US" sz="900" b="1" dirty="0">
                <a:solidFill>
                  <a:srgbClr val="C00000"/>
                </a:solidFill>
                <a:latin typeface="Calibri" pitchFamily="34" charset="0"/>
                <a:ea typeface="Calibri" pitchFamily="34" charset="-122"/>
                <a:cs typeface="Calibri" pitchFamily="34" charset="-120"/>
              </a:rPr>
              <a:t>Methodology</a:t>
            </a:r>
            <a:endParaRPr lang="en-US" sz="900" dirty="0"/>
          </a:p>
        </p:txBody>
      </p:sp>
      <p:sp>
        <p:nvSpPr>
          <p:cNvPr id="23" name="Text 21"/>
          <p:cNvSpPr/>
          <p:nvPr/>
        </p:nvSpPr>
        <p:spPr>
          <a:xfrm>
            <a:off x="5074920" y="3950208"/>
            <a:ext cx="3886200" cy="502920"/>
          </a:xfrm>
          <a:prstGeom prst="rect">
            <a:avLst/>
          </a:prstGeom>
          <a:noFill/>
          <a:ln/>
        </p:spPr>
        <p:txBody>
          <a:bodyPr wrap="square" lIns="0" tIns="0" rIns="0" bIns="0" rtlCol="0" anchor="ctr"/>
          <a:lstStyle/>
          <a:p>
            <a:pPr marL="0" indent="0">
              <a:lnSpc>
                <a:spcPct val="130000"/>
              </a:lnSpc>
              <a:buNone/>
            </a:pPr>
            <a:r>
              <a:rPr lang="en-US" sz="1000" i="1" dirty="0">
                <a:solidFill>
                  <a:srgbClr val="595959"/>
                </a:solidFill>
                <a:latin typeface="Calibri" pitchFamily="34" charset="0"/>
                <a:ea typeface="Calibri" pitchFamily="34" charset="-122"/>
                <a:cs typeface="Calibri" pitchFamily="34" charset="-120"/>
              </a:rPr>
              <a:t>Composite Housing Distress Index: normalized variables, ward-level tertile scoring</a:t>
            </a:r>
            <a:endParaRPr lang="en-US" sz="1000" dirty="0"/>
          </a:p>
        </p:txBody>
      </p:sp>
      <p:sp>
        <p:nvSpPr>
          <p:cNvPr id="24" name="Shape 22"/>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25" name="Text 23"/>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26" name="Text 24"/>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EVIDENCE BASE</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Four Datasets — One Unified Picture of Urban Distress</a:t>
            </a:r>
            <a:endParaRPr lang="en-US" sz="2400" dirty="0"/>
          </a:p>
        </p:txBody>
      </p:sp>
      <p:sp>
        <p:nvSpPr>
          <p:cNvPr id="5" name="Text 3"/>
          <p:cNvSpPr/>
          <p:nvPr/>
        </p:nvSpPr>
        <p:spPr>
          <a:xfrm>
            <a:off x="457200" y="1170432"/>
            <a:ext cx="8229600" cy="347472"/>
          </a:xfrm>
          <a:prstGeom prst="rect">
            <a:avLst/>
          </a:prstGeom>
          <a:noFill/>
          <a:ln/>
        </p:spPr>
        <p:txBody>
          <a:bodyPr wrap="square" rtlCol="0" anchor="ctr"/>
          <a:lstStyle/>
          <a:p>
            <a:pPr marL="0" indent="0">
              <a:buNone/>
            </a:pPr>
            <a:r>
              <a:rPr lang="en-US" sz="1100" dirty="0">
                <a:solidFill>
                  <a:srgbClr val="595959"/>
                </a:solidFill>
                <a:latin typeface="Calibri" pitchFamily="34" charset="0"/>
                <a:ea typeface="Calibri" pitchFamily="34" charset="-122"/>
                <a:cs typeface="Calibri" pitchFamily="34" charset="-120"/>
              </a:rPr>
              <a:t>Each dataset captures a different stage of the disinvestment pipeline. Together, they expose the full Revenue Trap.</a:t>
            </a:r>
            <a:endParaRPr lang="en-US" sz="1100" dirty="0"/>
          </a:p>
        </p:txBody>
      </p:sp>
      <p:sp>
        <p:nvSpPr>
          <p:cNvPr id="6" name="Shape 4"/>
          <p:cNvSpPr/>
          <p:nvPr/>
        </p:nvSpPr>
        <p:spPr>
          <a:xfrm>
            <a:off x="457200" y="1572768"/>
            <a:ext cx="8229600" cy="0"/>
          </a:xfrm>
          <a:prstGeom prst="line">
            <a:avLst/>
          </a:prstGeom>
          <a:noFill/>
          <a:ln w="6350">
            <a:solidFill>
              <a:srgbClr val="D0D7E3"/>
            </a:solidFill>
            <a:prstDash val="solid"/>
          </a:ln>
        </p:spPr>
        <p:txBody>
          <a:bodyPr/>
          <a:lstStyle/>
          <a:p>
            <a:endParaRPr lang="en-US" sz="2000"/>
          </a:p>
        </p:txBody>
      </p:sp>
      <p:sp>
        <p:nvSpPr>
          <p:cNvPr id="7" name="Shape 5"/>
          <p:cNvSpPr/>
          <p:nvPr/>
        </p:nvSpPr>
        <p:spPr>
          <a:xfrm>
            <a:off x="365760" y="1691640"/>
            <a:ext cx="4160520" cy="1325880"/>
          </a:xfrm>
          <a:prstGeom prst="rect">
            <a:avLst/>
          </a:prstGeom>
          <a:solidFill>
            <a:srgbClr val="F5F5F5"/>
          </a:solidFill>
          <a:ln w="6350">
            <a:solidFill>
              <a:srgbClr val="D6DCE4"/>
            </a:solidFill>
            <a:prstDash val="solid"/>
          </a:ln>
        </p:spPr>
        <p:txBody>
          <a:bodyPr/>
          <a:lstStyle/>
          <a:p>
            <a:endParaRPr lang="en-US" sz="2000"/>
          </a:p>
        </p:txBody>
      </p:sp>
      <p:sp>
        <p:nvSpPr>
          <p:cNvPr id="8" name="Shape 6"/>
          <p:cNvSpPr/>
          <p:nvPr/>
        </p:nvSpPr>
        <p:spPr>
          <a:xfrm>
            <a:off x="365760" y="1691640"/>
            <a:ext cx="50292" cy="1325880"/>
          </a:xfrm>
          <a:prstGeom prst="rect">
            <a:avLst/>
          </a:prstGeom>
          <a:solidFill>
            <a:srgbClr val="2E75B6"/>
          </a:solidFill>
          <a:ln w="12700">
            <a:solidFill>
              <a:srgbClr val="2E75B6"/>
            </a:solidFill>
            <a:prstDash val="solid"/>
          </a:ln>
        </p:spPr>
        <p:txBody>
          <a:bodyPr/>
          <a:lstStyle/>
          <a:p>
            <a:endParaRPr lang="en-US" sz="2000"/>
          </a:p>
        </p:txBody>
      </p:sp>
      <p:sp>
        <p:nvSpPr>
          <p:cNvPr id="9" name="Text 7"/>
          <p:cNvSpPr/>
          <p:nvPr/>
        </p:nvSpPr>
        <p:spPr>
          <a:xfrm>
            <a:off x="548640" y="1764792"/>
            <a:ext cx="393192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01  Outstanding Debt (365+ Days Overdue)</a:t>
            </a:r>
            <a:endParaRPr lang="en-US" sz="1100" dirty="0"/>
          </a:p>
        </p:txBody>
      </p:sp>
      <p:sp>
        <p:nvSpPr>
          <p:cNvPr id="10" name="Text 8"/>
          <p:cNvSpPr/>
          <p:nvPr/>
        </p:nvSpPr>
        <p:spPr>
          <a:xfrm>
            <a:off x="548640" y="2039112"/>
            <a:ext cx="3931920" cy="347472"/>
          </a:xfrm>
          <a:prstGeom prst="rect">
            <a:avLst/>
          </a:prstGeom>
          <a:noFill/>
          <a:ln/>
        </p:spPr>
        <p:txBody>
          <a:bodyPr wrap="square" lIns="0" tIns="0" rIns="0" bIns="0" rtlCol="0" anchor="ctr"/>
          <a:lstStyle/>
          <a:p>
            <a:pPr marL="0" indent="0">
              <a:lnSpc>
                <a:spcPct val="125000"/>
              </a:lnSpc>
              <a:buNone/>
            </a:pPr>
            <a:r>
              <a:rPr lang="en-US" sz="1000" i="1" dirty="0">
                <a:solidFill>
                  <a:srgbClr val="2E75B6"/>
                </a:solidFill>
                <a:latin typeface="Calibri" pitchFamily="34" charset="0"/>
                <a:ea typeface="Calibri" pitchFamily="34" charset="-122"/>
                <a:cs typeface="Calibri" pitchFamily="34" charset="-120"/>
              </a:rPr>
              <a:t>Identifies 'Financial Stress' — separates recoverable service debt from penalty-driven write-offs</a:t>
            </a:r>
            <a:endParaRPr lang="en-US" sz="1000" dirty="0"/>
          </a:p>
        </p:txBody>
      </p:sp>
      <p:sp>
        <p:nvSpPr>
          <p:cNvPr id="11" name="Text 9"/>
          <p:cNvSpPr/>
          <p:nvPr/>
        </p:nvSpPr>
        <p:spPr>
          <a:xfrm>
            <a:off x="548640" y="2404872"/>
            <a:ext cx="3749040" cy="347472"/>
          </a:xfrm>
          <a:prstGeom prst="rect">
            <a:avLst/>
          </a:prstGeom>
          <a:noFill/>
          <a:ln/>
        </p:spPr>
        <p:txBody>
          <a:bodyPr wrap="square" lIns="0" tIns="0" rIns="0" bIns="0" rtlCol="0" anchor="ctr"/>
          <a:lstStyle/>
          <a:p>
            <a:pPr marL="0" indent="0">
              <a:lnSpc>
                <a:spcPct val="120000"/>
              </a:lnSpc>
              <a:buNone/>
            </a:pPr>
            <a:r>
              <a:rPr lang="en-US" sz="900" dirty="0">
                <a:solidFill>
                  <a:srgbClr val="595959"/>
                </a:solidFill>
                <a:latin typeface="Calibri" pitchFamily="34" charset="0"/>
                <a:ea typeface="Calibri" pitchFamily="34" charset="-122"/>
                <a:cs typeface="Calibri" pitchFamily="34" charset="-120"/>
              </a:rPr>
              <a:t>Chicago Department of Finance — Parcel-Level Debt Dataset</a:t>
            </a:r>
            <a:endParaRPr lang="en-US" sz="900" dirty="0"/>
          </a:p>
        </p:txBody>
      </p:sp>
      <p:sp>
        <p:nvSpPr>
          <p:cNvPr id="12" name="Text 10"/>
          <p:cNvSpPr/>
          <p:nvPr/>
        </p:nvSpPr>
        <p:spPr>
          <a:xfrm>
            <a:off x="3337560" y="2743200"/>
            <a:ext cx="10058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Q1 &amp; Q3</a:t>
            </a:r>
            <a:endParaRPr lang="en-US" sz="800" dirty="0"/>
          </a:p>
        </p:txBody>
      </p:sp>
      <p:sp>
        <p:nvSpPr>
          <p:cNvPr id="15" name="Shape 13"/>
          <p:cNvSpPr/>
          <p:nvPr/>
        </p:nvSpPr>
        <p:spPr>
          <a:xfrm>
            <a:off x="365760" y="3154680"/>
            <a:ext cx="4160520" cy="1325880"/>
          </a:xfrm>
          <a:prstGeom prst="rect">
            <a:avLst/>
          </a:prstGeom>
          <a:solidFill>
            <a:srgbClr val="F5F5F5"/>
          </a:solidFill>
          <a:ln w="6350">
            <a:solidFill>
              <a:srgbClr val="D6DCE4"/>
            </a:solidFill>
            <a:prstDash val="solid"/>
          </a:ln>
        </p:spPr>
        <p:txBody>
          <a:bodyPr/>
          <a:lstStyle/>
          <a:p>
            <a:endParaRPr lang="en-US" sz="2000"/>
          </a:p>
        </p:txBody>
      </p:sp>
      <p:sp>
        <p:nvSpPr>
          <p:cNvPr id="16" name="Shape 14"/>
          <p:cNvSpPr/>
          <p:nvPr/>
        </p:nvSpPr>
        <p:spPr>
          <a:xfrm>
            <a:off x="365760" y="3154680"/>
            <a:ext cx="50292" cy="1325880"/>
          </a:xfrm>
          <a:prstGeom prst="rect">
            <a:avLst/>
          </a:prstGeom>
          <a:solidFill>
            <a:srgbClr val="1F5C99"/>
          </a:solidFill>
          <a:ln w="12700">
            <a:solidFill>
              <a:srgbClr val="1F5C99"/>
            </a:solidFill>
            <a:prstDash val="solid"/>
          </a:ln>
        </p:spPr>
        <p:txBody>
          <a:bodyPr/>
          <a:lstStyle/>
          <a:p>
            <a:endParaRPr lang="en-US" sz="2000"/>
          </a:p>
        </p:txBody>
      </p:sp>
      <p:sp>
        <p:nvSpPr>
          <p:cNvPr id="17" name="Text 15"/>
          <p:cNvSpPr/>
          <p:nvPr/>
        </p:nvSpPr>
        <p:spPr>
          <a:xfrm>
            <a:off x="548640" y="3227832"/>
            <a:ext cx="393192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02  Foreclosure Filings</a:t>
            </a:r>
            <a:endParaRPr lang="en-US" sz="1100" dirty="0"/>
          </a:p>
        </p:txBody>
      </p:sp>
      <p:sp>
        <p:nvSpPr>
          <p:cNvPr id="18" name="Text 16"/>
          <p:cNvSpPr/>
          <p:nvPr/>
        </p:nvSpPr>
        <p:spPr>
          <a:xfrm>
            <a:off x="548640" y="3502152"/>
            <a:ext cx="3931920" cy="347472"/>
          </a:xfrm>
          <a:prstGeom prst="rect">
            <a:avLst/>
          </a:prstGeom>
          <a:noFill/>
          <a:ln/>
        </p:spPr>
        <p:txBody>
          <a:bodyPr wrap="square" lIns="0" tIns="0" rIns="0" bIns="0" rtlCol="0" anchor="ctr"/>
          <a:lstStyle/>
          <a:p>
            <a:pPr marL="0" indent="0">
              <a:lnSpc>
                <a:spcPct val="125000"/>
              </a:lnSpc>
              <a:buNone/>
            </a:pPr>
            <a:r>
              <a:rPr lang="en-US" sz="1000" i="1" dirty="0">
                <a:solidFill>
                  <a:srgbClr val="1F5C99"/>
                </a:solidFill>
                <a:latin typeface="Calibri" pitchFamily="34" charset="0"/>
                <a:ea typeface="Calibri" pitchFamily="34" charset="-122"/>
                <a:cs typeface="Calibri" pitchFamily="34" charset="-120"/>
              </a:rPr>
              <a:t>Earliest financial stress signal — captures when owners begin losing properties</a:t>
            </a:r>
            <a:endParaRPr lang="en-US" sz="1000" dirty="0"/>
          </a:p>
        </p:txBody>
      </p:sp>
      <p:sp>
        <p:nvSpPr>
          <p:cNvPr id="19" name="Text 17"/>
          <p:cNvSpPr/>
          <p:nvPr/>
        </p:nvSpPr>
        <p:spPr>
          <a:xfrm>
            <a:off x="548640" y="3867912"/>
            <a:ext cx="3749040" cy="347472"/>
          </a:xfrm>
          <a:prstGeom prst="rect">
            <a:avLst/>
          </a:prstGeom>
          <a:noFill/>
          <a:ln/>
        </p:spPr>
        <p:txBody>
          <a:bodyPr wrap="square" lIns="0" tIns="0" rIns="0" bIns="0" rtlCol="0" anchor="ctr"/>
          <a:lstStyle/>
          <a:p>
            <a:pPr marL="0" indent="0">
              <a:lnSpc>
                <a:spcPct val="120000"/>
              </a:lnSpc>
              <a:buNone/>
            </a:pPr>
            <a:r>
              <a:rPr lang="en-US" sz="900" dirty="0">
                <a:solidFill>
                  <a:srgbClr val="595959"/>
                </a:solidFill>
                <a:latin typeface="Calibri" pitchFamily="34" charset="0"/>
                <a:ea typeface="Calibri" pitchFamily="34" charset="-122"/>
                <a:cs typeface="Calibri" pitchFamily="34" charset="-120"/>
              </a:rPr>
              <a:t>Institute for Housing Studies — Housing Markets Indicator Dataset (scraped)</a:t>
            </a:r>
            <a:endParaRPr lang="en-US" sz="900" dirty="0"/>
          </a:p>
        </p:txBody>
      </p:sp>
      <p:sp>
        <p:nvSpPr>
          <p:cNvPr id="20" name="Text 18"/>
          <p:cNvSpPr/>
          <p:nvPr/>
        </p:nvSpPr>
        <p:spPr>
          <a:xfrm>
            <a:off x="3337560" y="4206240"/>
            <a:ext cx="10058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Q1 &amp; Q2</a:t>
            </a:r>
            <a:endParaRPr lang="en-US" sz="800" dirty="0"/>
          </a:p>
        </p:txBody>
      </p:sp>
      <p:sp>
        <p:nvSpPr>
          <p:cNvPr id="22" name="Text 20"/>
          <p:cNvSpPr/>
          <p:nvPr/>
        </p:nvSpPr>
        <p:spPr>
          <a:xfrm>
            <a:off x="3291840" y="4178808"/>
            <a:ext cx="105156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Q1 &amp; Q2</a:t>
            </a:r>
            <a:endParaRPr lang="en-US" sz="800" dirty="0"/>
          </a:p>
        </p:txBody>
      </p:sp>
      <p:sp>
        <p:nvSpPr>
          <p:cNvPr id="23" name="Shape 21"/>
          <p:cNvSpPr/>
          <p:nvPr/>
        </p:nvSpPr>
        <p:spPr>
          <a:xfrm>
            <a:off x="4754880" y="1691640"/>
            <a:ext cx="4160520" cy="1325880"/>
          </a:xfrm>
          <a:prstGeom prst="rect">
            <a:avLst/>
          </a:prstGeom>
          <a:solidFill>
            <a:srgbClr val="F5F5F5"/>
          </a:solidFill>
          <a:ln w="6350">
            <a:solidFill>
              <a:srgbClr val="D6DCE4"/>
            </a:solidFill>
            <a:prstDash val="solid"/>
          </a:ln>
        </p:spPr>
        <p:txBody>
          <a:bodyPr/>
          <a:lstStyle/>
          <a:p>
            <a:endParaRPr lang="en-US" sz="2000"/>
          </a:p>
        </p:txBody>
      </p:sp>
      <p:sp>
        <p:nvSpPr>
          <p:cNvPr id="24" name="Shape 22"/>
          <p:cNvSpPr/>
          <p:nvPr/>
        </p:nvSpPr>
        <p:spPr>
          <a:xfrm>
            <a:off x="4754880" y="1691640"/>
            <a:ext cx="50292" cy="1325880"/>
          </a:xfrm>
          <a:prstGeom prst="rect">
            <a:avLst/>
          </a:prstGeom>
          <a:solidFill>
            <a:srgbClr val="17497A"/>
          </a:solidFill>
          <a:ln w="12700">
            <a:solidFill>
              <a:srgbClr val="17497A"/>
            </a:solidFill>
            <a:prstDash val="solid"/>
          </a:ln>
        </p:spPr>
        <p:txBody>
          <a:bodyPr/>
          <a:lstStyle/>
          <a:p>
            <a:endParaRPr lang="en-US" sz="2000"/>
          </a:p>
        </p:txBody>
      </p:sp>
      <p:sp>
        <p:nvSpPr>
          <p:cNvPr id="25" name="Text 23"/>
          <p:cNvSpPr/>
          <p:nvPr/>
        </p:nvSpPr>
        <p:spPr>
          <a:xfrm>
            <a:off x="4937760" y="1764792"/>
            <a:ext cx="393192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03  Demolition Lien Records</a:t>
            </a:r>
            <a:endParaRPr lang="en-US" sz="1100" dirty="0"/>
          </a:p>
        </p:txBody>
      </p:sp>
      <p:sp>
        <p:nvSpPr>
          <p:cNvPr id="26" name="Text 24"/>
          <p:cNvSpPr/>
          <p:nvPr/>
        </p:nvSpPr>
        <p:spPr>
          <a:xfrm>
            <a:off x="4937760" y="2039112"/>
            <a:ext cx="3931920" cy="347472"/>
          </a:xfrm>
          <a:prstGeom prst="rect">
            <a:avLst/>
          </a:prstGeom>
          <a:noFill/>
          <a:ln/>
        </p:spPr>
        <p:txBody>
          <a:bodyPr wrap="square" lIns="0" tIns="0" rIns="0" bIns="0" rtlCol="0" anchor="ctr"/>
          <a:lstStyle/>
          <a:p>
            <a:pPr marL="0" indent="0">
              <a:lnSpc>
                <a:spcPct val="125000"/>
              </a:lnSpc>
              <a:buNone/>
            </a:pPr>
            <a:r>
              <a:rPr lang="en-US" sz="1000" i="1" dirty="0">
                <a:solidFill>
                  <a:srgbClr val="17497A"/>
                </a:solidFill>
                <a:latin typeface="Calibri" pitchFamily="34" charset="0"/>
                <a:ea typeface="Calibri" pitchFamily="34" charset="-122"/>
                <a:cs typeface="Calibri" pitchFamily="34" charset="-120"/>
              </a:rPr>
              <a:t>Establishes 'Cost of Failure' — what the city spends when intervention comes too late</a:t>
            </a:r>
            <a:endParaRPr lang="en-US" sz="1000" dirty="0"/>
          </a:p>
        </p:txBody>
      </p:sp>
      <p:sp>
        <p:nvSpPr>
          <p:cNvPr id="27" name="Text 25"/>
          <p:cNvSpPr/>
          <p:nvPr/>
        </p:nvSpPr>
        <p:spPr>
          <a:xfrm>
            <a:off x="4937760" y="2404872"/>
            <a:ext cx="3749040" cy="347472"/>
          </a:xfrm>
          <a:prstGeom prst="rect">
            <a:avLst/>
          </a:prstGeom>
          <a:noFill/>
          <a:ln/>
        </p:spPr>
        <p:txBody>
          <a:bodyPr wrap="square" lIns="0" tIns="0" rIns="0" bIns="0" rtlCol="0" anchor="ctr"/>
          <a:lstStyle/>
          <a:p>
            <a:pPr marL="0" indent="0">
              <a:lnSpc>
                <a:spcPct val="120000"/>
              </a:lnSpc>
              <a:buNone/>
            </a:pPr>
            <a:r>
              <a:rPr lang="en-US" sz="900" dirty="0">
                <a:solidFill>
                  <a:srgbClr val="595959"/>
                </a:solidFill>
                <a:latin typeface="Calibri" pitchFamily="34" charset="0"/>
                <a:ea typeface="Calibri" pitchFamily="34" charset="-122"/>
                <a:cs typeface="Calibri" pitchFamily="34" charset="-120"/>
              </a:rPr>
              <a:t>Chicago Data Portal — Building Permits (filtered: Permit_type = Demolition)</a:t>
            </a:r>
            <a:endParaRPr lang="en-US" sz="900" dirty="0"/>
          </a:p>
        </p:txBody>
      </p:sp>
      <p:sp>
        <p:nvSpPr>
          <p:cNvPr id="28" name="Text 26"/>
          <p:cNvSpPr/>
          <p:nvPr/>
        </p:nvSpPr>
        <p:spPr>
          <a:xfrm>
            <a:off x="7726680" y="2743200"/>
            <a:ext cx="10058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Q2 &amp; Q4</a:t>
            </a:r>
            <a:endParaRPr lang="en-US" sz="800" dirty="0"/>
          </a:p>
        </p:txBody>
      </p:sp>
      <p:sp>
        <p:nvSpPr>
          <p:cNvPr id="30" name="Text 28"/>
          <p:cNvSpPr/>
          <p:nvPr/>
        </p:nvSpPr>
        <p:spPr>
          <a:xfrm>
            <a:off x="7680960" y="2715768"/>
            <a:ext cx="105156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Q2 &amp; Q4</a:t>
            </a:r>
            <a:endParaRPr lang="en-US" sz="800" dirty="0"/>
          </a:p>
        </p:txBody>
      </p:sp>
      <p:sp>
        <p:nvSpPr>
          <p:cNvPr id="31" name="Shape 29"/>
          <p:cNvSpPr/>
          <p:nvPr/>
        </p:nvSpPr>
        <p:spPr>
          <a:xfrm>
            <a:off x="4754880" y="3154680"/>
            <a:ext cx="4160520" cy="1325880"/>
          </a:xfrm>
          <a:prstGeom prst="rect">
            <a:avLst/>
          </a:prstGeom>
          <a:solidFill>
            <a:srgbClr val="F5F5F5"/>
          </a:solidFill>
          <a:ln w="6350">
            <a:solidFill>
              <a:srgbClr val="D6DCE4"/>
            </a:solidFill>
            <a:prstDash val="solid"/>
          </a:ln>
        </p:spPr>
        <p:txBody>
          <a:bodyPr/>
          <a:lstStyle/>
          <a:p>
            <a:endParaRPr lang="en-US" sz="2000"/>
          </a:p>
        </p:txBody>
      </p:sp>
      <p:sp>
        <p:nvSpPr>
          <p:cNvPr id="32" name="Shape 30"/>
          <p:cNvSpPr/>
          <p:nvPr/>
        </p:nvSpPr>
        <p:spPr>
          <a:xfrm>
            <a:off x="4754880" y="3154680"/>
            <a:ext cx="50292" cy="1325880"/>
          </a:xfrm>
          <a:prstGeom prst="rect">
            <a:avLst/>
          </a:prstGeom>
          <a:solidFill>
            <a:srgbClr val="C00000"/>
          </a:solidFill>
          <a:ln w="12700">
            <a:solidFill>
              <a:srgbClr val="C00000"/>
            </a:solidFill>
            <a:prstDash val="solid"/>
          </a:ln>
        </p:spPr>
        <p:txBody>
          <a:bodyPr/>
          <a:lstStyle/>
          <a:p>
            <a:endParaRPr lang="en-US" sz="2000"/>
          </a:p>
        </p:txBody>
      </p:sp>
      <p:sp>
        <p:nvSpPr>
          <p:cNvPr id="33" name="Text 31"/>
          <p:cNvSpPr/>
          <p:nvPr/>
        </p:nvSpPr>
        <p:spPr>
          <a:xfrm>
            <a:off x="4937760" y="3227832"/>
            <a:ext cx="393192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04  Cook County Vacant Land Inventory</a:t>
            </a:r>
            <a:endParaRPr lang="en-US" sz="1100" dirty="0"/>
          </a:p>
        </p:txBody>
      </p:sp>
      <p:sp>
        <p:nvSpPr>
          <p:cNvPr id="34" name="Text 32"/>
          <p:cNvSpPr/>
          <p:nvPr/>
        </p:nvSpPr>
        <p:spPr>
          <a:xfrm>
            <a:off x="4937760" y="3502152"/>
            <a:ext cx="3931920" cy="347472"/>
          </a:xfrm>
          <a:prstGeom prst="rect">
            <a:avLst/>
          </a:prstGeom>
          <a:noFill/>
          <a:ln/>
        </p:spPr>
        <p:txBody>
          <a:bodyPr wrap="square" lIns="0" tIns="0" rIns="0" bIns="0" rtlCol="0" anchor="ctr"/>
          <a:lstStyle/>
          <a:p>
            <a:pPr marL="0" indent="0">
              <a:lnSpc>
                <a:spcPct val="125000"/>
              </a:lnSpc>
              <a:buNone/>
            </a:pPr>
            <a:r>
              <a:rPr lang="en-US" sz="1000" i="1" dirty="0">
                <a:solidFill>
                  <a:srgbClr val="C00000"/>
                </a:solidFill>
                <a:latin typeface="Calibri" pitchFamily="34" charset="0"/>
                <a:ea typeface="Calibri" pitchFamily="34" charset="-122"/>
                <a:cs typeface="Calibri" pitchFamily="34" charset="-120"/>
              </a:rPr>
              <a:t>Maps the 'Final Outcome' — where the cycle has completed and revenue is permanently lost</a:t>
            </a:r>
            <a:endParaRPr lang="en-US" sz="1000" dirty="0"/>
          </a:p>
        </p:txBody>
      </p:sp>
      <p:sp>
        <p:nvSpPr>
          <p:cNvPr id="35" name="Text 33"/>
          <p:cNvSpPr/>
          <p:nvPr/>
        </p:nvSpPr>
        <p:spPr>
          <a:xfrm>
            <a:off x="4937760" y="3867912"/>
            <a:ext cx="3749040" cy="347472"/>
          </a:xfrm>
          <a:prstGeom prst="rect">
            <a:avLst/>
          </a:prstGeom>
          <a:noFill/>
          <a:ln/>
        </p:spPr>
        <p:txBody>
          <a:bodyPr wrap="square" lIns="0" tIns="0" rIns="0" bIns="0" rtlCol="0" anchor="ctr"/>
          <a:lstStyle/>
          <a:p>
            <a:pPr marL="0" indent="0">
              <a:lnSpc>
                <a:spcPct val="120000"/>
              </a:lnSpc>
              <a:buNone/>
            </a:pPr>
            <a:r>
              <a:rPr lang="en-US" sz="900" dirty="0">
                <a:solidFill>
                  <a:srgbClr val="595959"/>
                </a:solidFill>
                <a:latin typeface="Calibri" pitchFamily="34" charset="0"/>
                <a:ea typeface="Calibri" pitchFamily="34" charset="-122"/>
                <a:cs typeface="Calibri" pitchFamily="34" charset="-120"/>
              </a:rPr>
              <a:t>Cook County Assessor — Parcel Universe Dataset (1.8M observations, filtered for Chicago vacant land)</a:t>
            </a:r>
            <a:endParaRPr lang="en-US" sz="900" dirty="0"/>
          </a:p>
        </p:txBody>
      </p:sp>
      <p:sp>
        <p:nvSpPr>
          <p:cNvPr id="36" name="Text 34"/>
          <p:cNvSpPr/>
          <p:nvPr/>
        </p:nvSpPr>
        <p:spPr>
          <a:xfrm>
            <a:off x="7726680" y="4206240"/>
            <a:ext cx="10058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Q2 &amp; Q4</a:t>
            </a:r>
            <a:endParaRPr lang="en-US" sz="800" dirty="0"/>
          </a:p>
        </p:txBody>
      </p:sp>
      <p:sp>
        <p:nvSpPr>
          <p:cNvPr id="38" name="Text 36"/>
          <p:cNvSpPr/>
          <p:nvPr/>
        </p:nvSpPr>
        <p:spPr>
          <a:xfrm>
            <a:off x="7680960" y="4178808"/>
            <a:ext cx="105156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Answers Q2 &amp; Q4</a:t>
            </a:r>
            <a:endParaRPr lang="en-US" sz="800" dirty="0"/>
          </a:p>
        </p:txBody>
      </p:sp>
      <p:sp>
        <p:nvSpPr>
          <p:cNvPr id="39" name="Shape 37"/>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40" name="Text 38"/>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41" name="Text 39"/>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KEY FINDINGS</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The Same Wards Appear at Every Stage of the Distress Pipeline</a:t>
            </a:r>
            <a:endParaRPr lang="en-US" sz="2400" dirty="0"/>
          </a:p>
        </p:txBody>
      </p:sp>
      <p:sp>
        <p:nvSpPr>
          <p:cNvPr id="5" name="Shape 3"/>
          <p:cNvSpPr/>
          <p:nvPr/>
        </p:nvSpPr>
        <p:spPr>
          <a:xfrm>
            <a:off x="457200" y="1234440"/>
            <a:ext cx="8229600" cy="0"/>
          </a:xfrm>
          <a:prstGeom prst="line">
            <a:avLst/>
          </a:prstGeom>
          <a:noFill/>
          <a:ln w="6350">
            <a:solidFill>
              <a:srgbClr val="D0D7E3"/>
            </a:solidFill>
            <a:prstDash val="solid"/>
          </a:ln>
        </p:spPr>
        <p:txBody>
          <a:bodyPr/>
          <a:lstStyle/>
          <a:p>
            <a:endParaRPr lang="en-US" sz="2000"/>
          </a:p>
        </p:txBody>
      </p:sp>
      <p:sp>
        <p:nvSpPr>
          <p:cNvPr id="6" name="Shape 4"/>
          <p:cNvSpPr/>
          <p:nvPr/>
        </p:nvSpPr>
        <p:spPr>
          <a:xfrm>
            <a:off x="457200" y="1298448"/>
            <a:ext cx="8229600" cy="822960"/>
          </a:xfrm>
          <a:prstGeom prst="rect">
            <a:avLst/>
          </a:prstGeom>
          <a:solidFill>
            <a:srgbClr val="EEF4FB"/>
          </a:solidFill>
          <a:ln w="6350">
            <a:solidFill>
              <a:srgbClr val="BDD7EE"/>
            </a:solidFill>
            <a:prstDash val="solid"/>
          </a:ln>
        </p:spPr>
        <p:txBody>
          <a:bodyPr/>
          <a:lstStyle/>
          <a:p>
            <a:endParaRPr lang="en-US" sz="2000"/>
          </a:p>
        </p:txBody>
      </p:sp>
      <p:sp>
        <p:nvSpPr>
          <p:cNvPr id="7" name="Shape 5"/>
          <p:cNvSpPr/>
          <p:nvPr/>
        </p:nvSpPr>
        <p:spPr>
          <a:xfrm>
            <a:off x="457200" y="1298448"/>
            <a:ext cx="50292" cy="822960"/>
          </a:xfrm>
          <a:prstGeom prst="rect">
            <a:avLst/>
          </a:prstGeom>
          <a:solidFill>
            <a:srgbClr val="2E75B6"/>
          </a:solidFill>
          <a:ln w="12700">
            <a:solidFill>
              <a:srgbClr val="2E75B6"/>
            </a:solidFill>
            <a:prstDash val="solid"/>
          </a:ln>
        </p:spPr>
        <p:txBody>
          <a:bodyPr/>
          <a:lstStyle/>
          <a:p>
            <a:endParaRPr lang="en-US" sz="2000"/>
          </a:p>
        </p:txBody>
      </p:sp>
      <p:sp>
        <p:nvSpPr>
          <p:cNvPr id="8" name="Text 6"/>
          <p:cNvSpPr/>
          <p:nvPr/>
        </p:nvSpPr>
        <p:spPr>
          <a:xfrm>
            <a:off x="685800" y="1335024"/>
            <a:ext cx="4572000" cy="256032"/>
          </a:xfrm>
          <a:prstGeom prst="rect">
            <a:avLst/>
          </a:prstGeom>
          <a:noFill/>
          <a:ln/>
        </p:spPr>
        <p:txBody>
          <a:bodyPr wrap="square" lIns="0" tIns="0" rIns="0" bIns="0" rtlCol="0" anchor="ctr"/>
          <a:lstStyle/>
          <a:p>
            <a:pPr marL="0" indent="0">
              <a:buNone/>
            </a:pPr>
            <a:r>
              <a:rPr lang="en-US" sz="1000" b="1" dirty="0">
                <a:solidFill>
                  <a:srgbClr val="2E75B6"/>
                </a:solidFill>
                <a:latin typeface="Calibri" pitchFamily="34" charset="0"/>
                <a:ea typeface="Calibri" pitchFamily="34" charset="-122"/>
                <a:cs typeface="Calibri" pitchFamily="34" charset="-120"/>
              </a:rPr>
              <a:t>Finding 1  ·  Geographic Concentration</a:t>
            </a:r>
            <a:endParaRPr lang="en-US" sz="1000" dirty="0"/>
          </a:p>
        </p:txBody>
      </p:sp>
      <p:sp>
        <p:nvSpPr>
          <p:cNvPr id="9" name="Text 7"/>
          <p:cNvSpPr/>
          <p:nvPr/>
        </p:nvSpPr>
        <p:spPr>
          <a:xfrm>
            <a:off x="685800" y="1581912"/>
            <a:ext cx="7818120" cy="493776"/>
          </a:xfrm>
          <a:prstGeom prst="rect">
            <a:avLst/>
          </a:prstGeom>
          <a:noFill/>
          <a:ln/>
        </p:spPr>
        <p:txBody>
          <a:bodyPr wrap="square" lIns="0" tIns="0" rIns="0" bIns="0" rtlCol="0" anchor="ctr"/>
          <a:lstStyle/>
          <a:p>
            <a:pPr marL="0" indent="0">
              <a:lnSpc>
                <a:spcPct val="130000"/>
              </a:lnSpc>
              <a:buNone/>
            </a:pPr>
            <a:r>
              <a:rPr lang="en-US" sz="1000" dirty="0">
                <a:solidFill>
                  <a:srgbClr val="404040"/>
                </a:solidFill>
                <a:latin typeface="Calibri" pitchFamily="34" charset="0"/>
                <a:ea typeface="Calibri" pitchFamily="34" charset="-122"/>
                <a:cs typeface="Calibri" pitchFamily="34" charset="-120"/>
              </a:rPr>
              <a:t>A small number of wards — concentrated on the South and West sides — contain thousands of vacant parcels. Several North Side wards have fewer than 50. This maps almost perfectly onto historical patterns of disinvestment and municipal underservice. This is a targeted problem that demands targeted intervention.</a:t>
            </a:r>
            <a:endParaRPr lang="en-US" sz="1000" dirty="0"/>
          </a:p>
        </p:txBody>
      </p:sp>
      <p:sp>
        <p:nvSpPr>
          <p:cNvPr id="10" name="Shape 8"/>
          <p:cNvSpPr/>
          <p:nvPr/>
        </p:nvSpPr>
        <p:spPr>
          <a:xfrm>
            <a:off x="457200" y="2212848"/>
            <a:ext cx="8229600" cy="822960"/>
          </a:xfrm>
          <a:prstGeom prst="rect">
            <a:avLst/>
          </a:prstGeom>
          <a:solidFill>
            <a:srgbClr val="FFF0F0"/>
          </a:solidFill>
          <a:ln w="6350">
            <a:solidFill>
              <a:srgbClr val="F4CCCC"/>
            </a:solidFill>
            <a:prstDash val="solid"/>
          </a:ln>
        </p:spPr>
        <p:txBody>
          <a:bodyPr/>
          <a:lstStyle/>
          <a:p>
            <a:endParaRPr lang="en-US" sz="2000"/>
          </a:p>
        </p:txBody>
      </p:sp>
      <p:sp>
        <p:nvSpPr>
          <p:cNvPr id="11" name="Shape 9"/>
          <p:cNvSpPr/>
          <p:nvPr/>
        </p:nvSpPr>
        <p:spPr>
          <a:xfrm>
            <a:off x="457200" y="2212848"/>
            <a:ext cx="50292" cy="822960"/>
          </a:xfrm>
          <a:prstGeom prst="rect">
            <a:avLst/>
          </a:prstGeom>
          <a:solidFill>
            <a:srgbClr val="C00000"/>
          </a:solidFill>
          <a:ln w="12700">
            <a:solidFill>
              <a:srgbClr val="C00000"/>
            </a:solidFill>
            <a:prstDash val="solid"/>
          </a:ln>
        </p:spPr>
        <p:txBody>
          <a:bodyPr/>
          <a:lstStyle/>
          <a:p>
            <a:endParaRPr lang="en-US" sz="2000"/>
          </a:p>
        </p:txBody>
      </p:sp>
      <p:sp>
        <p:nvSpPr>
          <p:cNvPr id="12" name="Text 10"/>
          <p:cNvSpPr/>
          <p:nvPr/>
        </p:nvSpPr>
        <p:spPr>
          <a:xfrm>
            <a:off x="685800" y="2249424"/>
            <a:ext cx="4572000" cy="256032"/>
          </a:xfrm>
          <a:prstGeom prst="rect">
            <a:avLst/>
          </a:prstGeom>
          <a:noFill/>
          <a:ln/>
        </p:spPr>
        <p:txBody>
          <a:bodyPr wrap="square" lIns="0" tIns="0" rIns="0" bIns="0" rtlCol="0" anchor="ctr"/>
          <a:lstStyle/>
          <a:p>
            <a:pPr marL="0" indent="0">
              <a:buNone/>
            </a:pPr>
            <a:r>
              <a:rPr lang="en-US" sz="1000" b="1" dirty="0">
                <a:solidFill>
                  <a:srgbClr val="C00000"/>
                </a:solidFill>
                <a:latin typeface="Calibri" pitchFamily="34" charset="0"/>
                <a:ea typeface="Calibri" pitchFamily="34" charset="-122"/>
                <a:cs typeface="Calibri" pitchFamily="34" charset="-120"/>
              </a:rPr>
              <a:t>Finding 2  ·  The Penalty Wall</a:t>
            </a:r>
            <a:endParaRPr lang="en-US" sz="1000" dirty="0"/>
          </a:p>
        </p:txBody>
      </p:sp>
      <p:sp>
        <p:nvSpPr>
          <p:cNvPr id="13" name="Text 11"/>
          <p:cNvSpPr/>
          <p:nvPr/>
        </p:nvSpPr>
        <p:spPr>
          <a:xfrm>
            <a:off x="685800" y="2496312"/>
            <a:ext cx="7818120" cy="493776"/>
          </a:xfrm>
          <a:prstGeom prst="rect">
            <a:avLst/>
          </a:prstGeom>
          <a:noFill/>
          <a:ln/>
        </p:spPr>
        <p:txBody>
          <a:bodyPr wrap="square" lIns="0" tIns="0" rIns="0" bIns="0" rtlCol="0" anchor="ctr"/>
          <a:lstStyle/>
          <a:p>
            <a:pPr marL="0" indent="0">
              <a:lnSpc>
                <a:spcPct val="130000"/>
              </a:lnSpc>
              <a:buNone/>
            </a:pPr>
            <a:r>
              <a:rPr lang="en-US" sz="1000" dirty="0">
                <a:solidFill>
                  <a:srgbClr val="404040"/>
                </a:solidFill>
                <a:latin typeface="Calibri" pitchFamily="34" charset="0"/>
                <a:ea typeface="Calibri" pitchFamily="34" charset="-122"/>
                <a:cs typeface="Calibri" pitchFamily="34" charset="-120"/>
              </a:rPr>
              <a:t>In the highest-risk wards, penalties — late fees, administrative charges, compounding interest — account for close to 46% of total outstanding utility debt. This is not debt for services consumed. It is city-imposed fees that turn recoverable situations into write-offs and eliminate any economic incentive for owners to re-engage.</a:t>
            </a:r>
            <a:endParaRPr lang="en-US" sz="1000" dirty="0"/>
          </a:p>
        </p:txBody>
      </p:sp>
      <p:sp>
        <p:nvSpPr>
          <p:cNvPr id="14" name="Shape 12"/>
          <p:cNvSpPr/>
          <p:nvPr/>
        </p:nvSpPr>
        <p:spPr>
          <a:xfrm>
            <a:off x="457200" y="3127248"/>
            <a:ext cx="8229600" cy="822960"/>
          </a:xfrm>
          <a:prstGeom prst="rect">
            <a:avLst/>
          </a:prstGeom>
          <a:solidFill>
            <a:srgbClr val="F0F5EE"/>
          </a:solidFill>
          <a:ln w="6350">
            <a:solidFill>
              <a:srgbClr val="C5D9C0"/>
            </a:solidFill>
            <a:prstDash val="solid"/>
          </a:ln>
        </p:spPr>
        <p:txBody>
          <a:bodyPr/>
          <a:lstStyle/>
          <a:p>
            <a:endParaRPr lang="en-US" sz="2000"/>
          </a:p>
        </p:txBody>
      </p:sp>
      <p:sp>
        <p:nvSpPr>
          <p:cNvPr id="15" name="Shape 13"/>
          <p:cNvSpPr/>
          <p:nvPr/>
        </p:nvSpPr>
        <p:spPr>
          <a:xfrm>
            <a:off x="457200" y="3127248"/>
            <a:ext cx="50292" cy="822960"/>
          </a:xfrm>
          <a:prstGeom prst="rect">
            <a:avLst/>
          </a:prstGeom>
          <a:solidFill>
            <a:srgbClr val="2E7D32"/>
          </a:solidFill>
          <a:ln w="12700">
            <a:solidFill>
              <a:srgbClr val="2E7D32"/>
            </a:solidFill>
            <a:prstDash val="solid"/>
          </a:ln>
        </p:spPr>
        <p:txBody>
          <a:bodyPr/>
          <a:lstStyle/>
          <a:p>
            <a:endParaRPr lang="en-US" sz="2000"/>
          </a:p>
        </p:txBody>
      </p:sp>
      <p:sp>
        <p:nvSpPr>
          <p:cNvPr id="16" name="Text 14"/>
          <p:cNvSpPr/>
          <p:nvPr/>
        </p:nvSpPr>
        <p:spPr>
          <a:xfrm>
            <a:off x="685800" y="3163824"/>
            <a:ext cx="5486400" cy="256032"/>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Finding 3  ·  Water Debt as a Leading Indicator</a:t>
            </a:r>
            <a:endParaRPr lang="en-US" sz="1000" dirty="0"/>
          </a:p>
        </p:txBody>
      </p:sp>
      <p:sp>
        <p:nvSpPr>
          <p:cNvPr id="17" name="Text 15"/>
          <p:cNvSpPr/>
          <p:nvPr/>
        </p:nvSpPr>
        <p:spPr>
          <a:xfrm>
            <a:off x="685800" y="3410712"/>
            <a:ext cx="7818120" cy="493776"/>
          </a:xfrm>
          <a:prstGeom prst="rect">
            <a:avLst/>
          </a:prstGeom>
          <a:noFill/>
          <a:ln/>
        </p:spPr>
        <p:txBody>
          <a:bodyPr wrap="square" lIns="0" tIns="0" rIns="0" bIns="0" rtlCol="0" anchor="ctr"/>
          <a:lstStyle/>
          <a:p>
            <a:pPr marL="0" indent="0">
              <a:lnSpc>
                <a:spcPct val="130000"/>
              </a:lnSpc>
              <a:buNone/>
            </a:pPr>
            <a:r>
              <a:rPr lang="en-US" sz="1000" dirty="0">
                <a:solidFill>
                  <a:srgbClr val="404040"/>
                </a:solidFill>
                <a:latin typeface="Calibri" pitchFamily="34" charset="0"/>
                <a:ea typeface="Calibri" pitchFamily="34" charset="-122"/>
                <a:cs typeface="Calibri" pitchFamily="34" charset="-120"/>
              </a:rPr>
              <a:t>Water debt reliably proxies for broader property distress — mimicking the same geographic and magnitude patterns as foreclosures, demolitions, and vacancy. Because water debt data exists at near-real-time parcel resolution, it provides an actionable early warning signal the city already has access to.</a:t>
            </a:r>
            <a:endParaRPr lang="en-US" sz="1000" dirty="0"/>
          </a:p>
        </p:txBody>
      </p:sp>
      <p:sp>
        <p:nvSpPr>
          <p:cNvPr id="18" name="Text 16"/>
          <p:cNvSpPr/>
          <p:nvPr/>
        </p:nvSpPr>
        <p:spPr>
          <a:xfrm>
            <a:off x="457200" y="4096512"/>
            <a:ext cx="8229600" cy="365760"/>
          </a:xfrm>
          <a:prstGeom prst="rect">
            <a:avLst/>
          </a:prstGeom>
          <a:noFill/>
          <a:ln/>
        </p:spPr>
        <p:txBody>
          <a:bodyPr wrap="square" rtlCol="0" anchor="ctr"/>
          <a:lstStyle/>
          <a:p>
            <a:pPr marL="0" indent="0">
              <a:lnSpc>
                <a:spcPct val="130000"/>
              </a:lnSpc>
              <a:buNone/>
            </a:pPr>
            <a:r>
              <a:rPr lang="en-US" sz="900" i="1" dirty="0">
                <a:solidFill>
                  <a:srgbClr val="595959"/>
                </a:solidFill>
                <a:latin typeface="Calibri" pitchFamily="34" charset="0"/>
                <a:ea typeface="Calibri" pitchFamily="34" charset="-122"/>
                <a:cs typeface="Calibri" pitchFamily="34" charset="-120"/>
              </a:rPr>
              <a:t>Note: Demolition data was parsed to distinguish city-initiated demolitions (distress signal) from private demolitions (often gentrification). Only city-initiated demolitions were used in the distress index.</a:t>
            </a:r>
            <a:endParaRPr lang="en-US" sz="900" dirty="0"/>
          </a:p>
        </p:txBody>
      </p:sp>
      <p:sp>
        <p:nvSpPr>
          <p:cNvPr id="19" name="Shape 17"/>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20" name="Text 18"/>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21" name="Text 19"/>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HOUSING DISTRESS INDEX</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17 of Chicago's 50 Wards Are Classified as Critical</a:t>
            </a:r>
            <a:endParaRPr lang="en-US" sz="2400" dirty="0"/>
          </a:p>
        </p:txBody>
      </p:sp>
      <p:sp>
        <p:nvSpPr>
          <p:cNvPr id="5" name="Text 3"/>
          <p:cNvSpPr/>
          <p:nvPr/>
        </p:nvSpPr>
        <p:spPr>
          <a:xfrm>
            <a:off x="457200" y="1170432"/>
            <a:ext cx="8229600" cy="320040"/>
          </a:xfrm>
          <a:prstGeom prst="rect">
            <a:avLst/>
          </a:prstGeom>
          <a:noFill/>
          <a:ln/>
        </p:spPr>
        <p:txBody>
          <a:bodyPr wrap="square" rtlCol="0" anchor="ctr"/>
          <a:lstStyle/>
          <a:p>
            <a:pPr marL="0" indent="0">
              <a:buNone/>
            </a:pPr>
            <a:r>
              <a:rPr lang="en-US" sz="1100" dirty="0">
                <a:solidFill>
                  <a:srgbClr val="595959"/>
                </a:solidFill>
                <a:latin typeface="Calibri" pitchFamily="34" charset="0"/>
                <a:ea typeface="Calibri" pitchFamily="34" charset="-122"/>
                <a:cs typeface="Calibri" pitchFamily="34" charset="-120"/>
              </a:rPr>
              <a:t>The composite Housing Distress Index normalizes four variables and divides all 50 wards into risk tiers.</a:t>
            </a:r>
            <a:endParaRPr lang="en-US" sz="1100" dirty="0"/>
          </a:p>
        </p:txBody>
      </p:sp>
      <p:sp>
        <p:nvSpPr>
          <p:cNvPr id="6" name="Shape 4"/>
          <p:cNvSpPr/>
          <p:nvPr/>
        </p:nvSpPr>
        <p:spPr>
          <a:xfrm>
            <a:off x="457200" y="1554480"/>
            <a:ext cx="8229600" cy="0"/>
          </a:xfrm>
          <a:prstGeom prst="line">
            <a:avLst/>
          </a:prstGeom>
          <a:noFill/>
          <a:ln w="6350">
            <a:solidFill>
              <a:srgbClr val="D0D7E3"/>
            </a:solidFill>
            <a:prstDash val="solid"/>
          </a:ln>
        </p:spPr>
        <p:txBody>
          <a:bodyPr/>
          <a:lstStyle/>
          <a:p>
            <a:endParaRPr lang="en-US" sz="2000"/>
          </a:p>
        </p:txBody>
      </p:sp>
      <p:sp>
        <p:nvSpPr>
          <p:cNvPr id="7" name="Shape 5"/>
          <p:cNvSpPr/>
          <p:nvPr/>
        </p:nvSpPr>
        <p:spPr>
          <a:xfrm>
            <a:off x="457200" y="1627632"/>
            <a:ext cx="3886200" cy="2697480"/>
          </a:xfrm>
          <a:prstGeom prst="rect">
            <a:avLst/>
          </a:prstGeom>
          <a:solidFill>
            <a:srgbClr val="F5F5F5"/>
          </a:solidFill>
          <a:ln w="6350">
            <a:solidFill>
              <a:srgbClr val="D6DCE4"/>
            </a:solidFill>
            <a:prstDash val="solid"/>
          </a:ln>
        </p:spPr>
        <p:txBody>
          <a:bodyPr/>
          <a:lstStyle/>
          <a:p>
            <a:endParaRPr lang="en-US" sz="2000"/>
          </a:p>
        </p:txBody>
      </p:sp>
      <p:sp>
        <p:nvSpPr>
          <p:cNvPr id="8" name="Text 6"/>
          <p:cNvSpPr/>
          <p:nvPr/>
        </p:nvSpPr>
        <p:spPr>
          <a:xfrm>
            <a:off x="640080" y="1719072"/>
            <a:ext cx="3657600" cy="292608"/>
          </a:xfrm>
          <a:prstGeom prst="rect">
            <a:avLst/>
          </a:prstGeom>
          <a:noFill/>
          <a:ln/>
        </p:spPr>
        <p:txBody>
          <a:bodyPr wrap="square" lIns="0" tIns="0" rIns="0" bIns="0"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How the Index was Built</a:t>
            </a:r>
            <a:endParaRPr lang="en-US" sz="1200" dirty="0"/>
          </a:p>
        </p:txBody>
      </p:sp>
      <p:sp>
        <p:nvSpPr>
          <p:cNvPr id="9" name="Shape 7"/>
          <p:cNvSpPr/>
          <p:nvPr/>
        </p:nvSpPr>
        <p:spPr>
          <a:xfrm>
            <a:off x="640080" y="2084832"/>
            <a:ext cx="502920" cy="347472"/>
          </a:xfrm>
          <a:prstGeom prst="rect">
            <a:avLst/>
          </a:prstGeom>
          <a:solidFill>
            <a:srgbClr val="2E75B6"/>
          </a:solidFill>
          <a:ln w="12700">
            <a:solidFill>
              <a:srgbClr val="2E75B6"/>
            </a:solidFill>
            <a:prstDash val="solid"/>
          </a:ln>
        </p:spPr>
        <p:txBody>
          <a:bodyPr/>
          <a:lstStyle/>
          <a:p>
            <a:endParaRPr lang="en-US" sz="2000"/>
          </a:p>
        </p:txBody>
      </p:sp>
      <p:sp>
        <p:nvSpPr>
          <p:cNvPr id="10" name="Text 8"/>
          <p:cNvSpPr/>
          <p:nvPr/>
        </p:nvSpPr>
        <p:spPr>
          <a:xfrm>
            <a:off x="640080" y="2084832"/>
            <a:ext cx="50292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Step 1</a:t>
            </a:r>
            <a:endParaRPr lang="en-US" sz="800" dirty="0"/>
          </a:p>
        </p:txBody>
      </p:sp>
      <p:sp>
        <p:nvSpPr>
          <p:cNvPr id="11" name="Text 9"/>
          <p:cNvSpPr/>
          <p:nvPr/>
        </p:nvSpPr>
        <p:spPr>
          <a:xfrm>
            <a:off x="1261872" y="2112264"/>
            <a:ext cx="2926080" cy="329184"/>
          </a:xfrm>
          <a:prstGeom prst="rect">
            <a:avLst/>
          </a:prstGeom>
          <a:noFill/>
          <a:ln/>
        </p:spPr>
        <p:txBody>
          <a:bodyPr wrap="square" lIns="0" tIns="0" rIns="0" bIns="0" rtlCol="0" anchor="ctr"/>
          <a:lstStyle/>
          <a:p>
            <a:pPr marL="0" indent="0">
              <a:lnSpc>
                <a:spcPct val="120000"/>
              </a:lnSpc>
              <a:buNone/>
            </a:pPr>
            <a:r>
              <a:rPr lang="en-US" sz="1000" dirty="0">
                <a:solidFill>
                  <a:srgbClr val="404040"/>
                </a:solidFill>
                <a:latin typeface="Calibri" pitchFamily="34" charset="0"/>
                <a:ea typeface="Calibri" pitchFamily="34" charset="-122"/>
                <a:cs typeface="Calibri" pitchFamily="34" charset="-120"/>
              </a:rPr>
              <a:t>Normalize each variable (0–1 scale) for all 50 wards</a:t>
            </a:r>
            <a:endParaRPr lang="en-US" sz="1000" dirty="0"/>
          </a:p>
        </p:txBody>
      </p:sp>
      <p:sp>
        <p:nvSpPr>
          <p:cNvPr id="12" name="Shape 10"/>
          <p:cNvSpPr/>
          <p:nvPr/>
        </p:nvSpPr>
        <p:spPr>
          <a:xfrm>
            <a:off x="640080" y="2743200"/>
            <a:ext cx="502920" cy="347472"/>
          </a:xfrm>
          <a:prstGeom prst="rect">
            <a:avLst/>
          </a:prstGeom>
          <a:solidFill>
            <a:srgbClr val="2E75B6"/>
          </a:solidFill>
          <a:ln w="12700">
            <a:solidFill>
              <a:srgbClr val="2E75B6"/>
            </a:solidFill>
            <a:prstDash val="solid"/>
          </a:ln>
        </p:spPr>
        <p:txBody>
          <a:bodyPr/>
          <a:lstStyle/>
          <a:p>
            <a:endParaRPr lang="en-US" sz="2000"/>
          </a:p>
        </p:txBody>
      </p:sp>
      <p:sp>
        <p:nvSpPr>
          <p:cNvPr id="13" name="Text 11"/>
          <p:cNvSpPr/>
          <p:nvPr/>
        </p:nvSpPr>
        <p:spPr>
          <a:xfrm>
            <a:off x="640080" y="2743200"/>
            <a:ext cx="50292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Step 2</a:t>
            </a:r>
            <a:endParaRPr lang="en-US" sz="800" dirty="0"/>
          </a:p>
        </p:txBody>
      </p:sp>
      <p:sp>
        <p:nvSpPr>
          <p:cNvPr id="14" name="Text 12"/>
          <p:cNvSpPr/>
          <p:nvPr/>
        </p:nvSpPr>
        <p:spPr>
          <a:xfrm>
            <a:off x="1261872" y="2770632"/>
            <a:ext cx="2926080" cy="329184"/>
          </a:xfrm>
          <a:prstGeom prst="rect">
            <a:avLst/>
          </a:prstGeom>
          <a:noFill/>
          <a:ln/>
        </p:spPr>
        <p:txBody>
          <a:bodyPr wrap="square" lIns="0" tIns="0" rIns="0" bIns="0" rtlCol="0" anchor="ctr"/>
          <a:lstStyle/>
          <a:p>
            <a:pPr marL="0" indent="0">
              <a:lnSpc>
                <a:spcPct val="120000"/>
              </a:lnSpc>
              <a:buNone/>
            </a:pPr>
            <a:r>
              <a:rPr lang="en-US" sz="1000" dirty="0">
                <a:solidFill>
                  <a:srgbClr val="404040"/>
                </a:solidFill>
                <a:latin typeface="Calibri" pitchFamily="34" charset="0"/>
                <a:ea typeface="Calibri" pitchFamily="34" charset="-122"/>
                <a:cs typeface="Calibri" pitchFamily="34" charset="-120"/>
              </a:rPr>
              <a:t>Average the four normalized scores per ward</a:t>
            </a:r>
            <a:endParaRPr lang="en-US" sz="1000" dirty="0"/>
          </a:p>
        </p:txBody>
      </p:sp>
      <p:sp>
        <p:nvSpPr>
          <p:cNvPr id="15" name="Shape 13"/>
          <p:cNvSpPr/>
          <p:nvPr/>
        </p:nvSpPr>
        <p:spPr>
          <a:xfrm>
            <a:off x="640080" y="3401568"/>
            <a:ext cx="502920" cy="347472"/>
          </a:xfrm>
          <a:prstGeom prst="rect">
            <a:avLst/>
          </a:prstGeom>
          <a:solidFill>
            <a:srgbClr val="2E75B6"/>
          </a:solidFill>
          <a:ln w="12700">
            <a:solidFill>
              <a:srgbClr val="2E75B6"/>
            </a:solidFill>
            <a:prstDash val="solid"/>
          </a:ln>
        </p:spPr>
        <p:txBody>
          <a:bodyPr/>
          <a:lstStyle/>
          <a:p>
            <a:endParaRPr lang="en-US" sz="2000"/>
          </a:p>
        </p:txBody>
      </p:sp>
      <p:sp>
        <p:nvSpPr>
          <p:cNvPr id="16" name="Text 14"/>
          <p:cNvSpPr/>
          <p:nvPr/>
        </p:nvSpPr>
        <p:spPr>
          <a:xfrm>
            <a:off x="640080" y="3401568"/>
            <a:ext cx="50292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Step 3</a:t>
            </a:r>
            <a:endParaRPr lang="en-US" sz="800" dirty="0"/>
          </a:p>
        </p:txBody>
      </p:sp>
      <p:sp>
        <p:nvSpPr>
          <p:cNvPr id="17" name="Text 15"/>
          <p:cNvSpPr/>
          <p:nvPr/>
        </p:nvSpPr>
        <p:spPr>
          <a:xfrm>
            <a:off x="1261872" y="3429000"/>
            <a:ext cx="2926080" cy="329184"/>
          </a:xfrm>
          <a:prstGeom prst="rect">
            <a:avLst/>
          </a:prstGeom>
          <a:noFill/>
          <a:ln/>
        </p:spPr>
        <p:txBody>
          <a:bodyPr wrap="square" lIns="0" tIns="0" rIns="0" bIns="0" rtlCol="0" anchor="ctr"/>
          <a:lstStyle/>
          <a:p>
            <a:pPr marL="0" indent="0">
              <a:lnSpc>
                <a:spcPct val="120000"/>
              </a:lnSpc>
              <a:buNone/>
            </a:pPr>
            <a:r>
              <a:rPr lang="en-US" sz="1000" dirty="0">
                <a:solidFill>
                  <a:srgbClr val="404040"/>
                </a:solidFill>
                <a:latin typeface="Calibri" pitchFamily="34" charset="0"/>
                <a:ea typeface="Calibri" pitchFamily="34" charset="-122"/>
                <a:cs typeface="Calibri" pitchFamily="34" charset="-120"/>
              </a:rPr>
              <a:t>Divide wards into tertiles → Low / Watch / Critical</a:t>
            </a:r>
            <a:endParaRPr lang="en-US" sz="1000" dirty="0"/>
          </a:p>
        </p:txBody>
      </p:sp>
      <p:sp>
        <p:nvSpPr>
          <p:cNvPr id="18" name="Text 16"/>
          <p:cNvSpPr/>
          <p:nvPr/>
        </p:nvSpPr>
        <p:spPr>
          <a:xfrm>
            <a:off x="640080" y="4343400"/>
            <a:ext cx="3657600" cy="201168"/>
          </a:xfrm>
          <a:prstGeom prst="rect">
            <a:avLst/>
          </a:prstGeom>
          <a:noFill/>
          <a:ln/>
        </p:spPr>
        <p:txBody>
          <a:bodyPr wrap="square" lIns="0" tIns="0" rIns="0" bIns="0" rtlCol="0" anchor="ctr"/>
          <a:lstStyle/>
          <a:p>
            <a:pPr marL="0" indent="0">
              <a:buNone/>
            </a:pPr>
            <a:r>
              <a:rPr lang="en-US" sz="900" b="1" dirty="0">
                <a:solidFill>
                  <a:srgbClr val="2E75B6"/>
                </a:solidFill>
                <a:latin typeface="Calibri" pitchFamily="34" charset="0"/>
                <a:ea typeface="Calibri" pitchFamily="34" charset="-122"/>
                <a:cs typeface="Calibri" pitchFamily="34" charset="-120"/>
              </a:rPr>
              <a:t>Variables included:</a:t>
            </a:r>
            <a:endParaRPr lang="en-US" sz="900" dirty="0"/>
          </a:p>
        </p:txBody>
      </p:sp>
      <p:sp>
        <p:nvSpPr>
          <p:cNvPr id="19" name="Text 17"/>
          <p:cNvSpPr/>
          <p:nvPr/>
        </p:nvSpPr>
        <p:spPr>
          <a:xfrm>
            <a:off x="640080" y="4590288"/>
            <a:ext cx="3657600" cy="201168"/>
          </a:xfrm>
          <a:prstGeom prst="rect">
            <a:avLst/>
          </a:prstGeom>
          <a:noFill/>
          <a:ln/>
        </p:spPr>
        <p:txBody>
          <a:bodyPr wrap="square" lIns="0" tIns="0" rIns="0" bIns="0" rtlCol="0" anchor="ctr"/>
          <a:lstStyle/>
          <a:p>
            <a:pPr marL="0" indent="0">
              <a:buNone/>
            </a:pPr>
            <a:r>
              <a:rPr lang="en-US" sz="900" dirty="0">
                <a:solidFill>
                  <a:srgbClr val="595959"/>
                </a:solidFill>
                <a:latin typeface="Calibri" pitchFamily="34" charset="0"/>
                <a:ea typeface="Calibri" pitchFamily="34" charset="-122"/>
                <a:cs typeface="Calibri" pitchFamily="34" charset="-120"/>
              </a:rPr>
              <a:t>Vacant Land Inventory  ·  Foreclosure Filings  ·  Outstanding Water Debt  ·  Demolition Lien Records</a:t>
            </a:r>
            <a:endParaRPr lang="en-US" sz="900" dirty="0"/>
          </a:p>
        </p:txBody>
      </p:sp>
      <p:sp>
        <p:nvSpPr>
          <p:cNvPr id="20" name="Shape 18"/>
          <p:cNvSpPr/>
          <p:nvPr/>
        </p:nvSpPr>
        <p:spPr>
          <a:xfrm>
            <a:off x="4663440" y="1627632"/>
            <a:ext cx="4023360" cy="777240"/>
          </a:xfrm>
          <a:prstGeom prst="rect">
            <a:avLst/>
          </a:prstGeom>
          <a:solidFill>
            <a:srgbClr val="F5F5F5"/>
          </a:solidFill>
          <a:ln w="6350">
            <a:solidFill>
              <a:srgbClr val="D6DCE4"/>
            </a:solidFill>
            <a:prstDash val="solid"/>
          </a:ln>
        </p:spPr>
        <p:txBody>
          <a:bodyPr/>
          <a:lstStyle/>
          <a:p>
            <a:endParaRPr lang="en-US" sz="2000"/>
          </a:p>
        </p:txBody>
      </p:sp>
      <p:sp>
        <p:nvSpPr>
          <p:cNvPr id="21" name="Shape 19"/>
          <p:cNvSpPr/>
          <p:nvPr/>
        </p:nvSpPr>
        <p:spPr>
          <a:xfrm>
            <a:off x="4663440" y="1627632"/>
            <a:ext cx="50292" cy="777240"/>
          </a:xfrm>
          <a:prstGeom prst="rect">
            <a:avLst/>
          </a:prstGeom>
          <a:solidFill>
            <a:srgbClr val="C00000"/>
          </a:solidFill>
          <a:ln w="12700">
            <a:solidFill>
              <a:srgbClr val="C00000"/>
            </a:solidFill>
            <a:prstDash val="solid"/>
          </a:ln>
        </p:spPr>
        <p:txBody>
          <a:bodyPr/>
          <a:lstStyle/>
          <a:p>
            <a:endParaRPr lang="en-US" sz="2000"/>
          </a:p>
        </p:txBody>
      </p:sp>
      <p:sp>
        <p:nvSpPr>
          <p:cNvPr id="22" name="Text 20"/>
          <p:cNvSpPr/>
          <p:nvPr/>
        </p:nvSpPr>
        <p:spPr>
          <a:xfrm>
            <a:off x="4846320" y="1700784"/>
            <a:ext cx="1005840" cy="256032"/>
          </a:xfrm>
          <a:prstGeom prst="rect">
            <a:avLst/>
          </a:prstGeom>
          <a:noFill/>
          <a:ln/>
        </p:spPr>
        <p:txBody>
          <a:bodyPr wrap="square" lIns="0" tIns="0" rIns="0" bIns="0" rtlCol="0" anchor="ctr"/>
          <a:lstStyle/>
          <a:p>
            <a:pPr marL="0" indent="0">
              <a:buNone/>
            </a:pPr>
            <a:r>
              <a:rPr lang="en-US" sz="1200" b="1" dirty="0">
                <a:solidFill>
                  <a:srgbClr val="C00000"/>
                </a:solidFill>
                <a:latin typeface="Calibri" pitchFamily="34" charset="0"/>
                <a:ea typeface="Calibri" pitchFamily="34" charset="-122"/>
                <a:cs typeface="Calibri" pitchFamily="34" charset="-120"/>
              </a:rPr>
              <a:t>CRITICAL</a:t>
            </a:r>
            <a:endParaRPr lang="en-US" sz="1200" dirty="0"/>
          </a:p>
        </p:txBody>
      </p:sp>
      <p:sp>
        <p:nvSpPr>
          <p:cNvPr id="23" name="Text 21"/>
          <p:cNvSpPr/>
          <p:nvPr/>
        </p:nvSpPr>
        <p:spPr>
          <a:xfrm>
            <a:off x="5897880" y="1700784"/>
            <a:ext cx="822960" cy="256032"/>
          </a:xfrm>
          <a:prstGeom prst="rect">
            <a:avLst/>
          </a:prstGeom>
          <a:noFill/>
          <a:ln/>
        </p:spPr>
        <p:txBody>
          <a:bodyPr wrap="square" lIns="0" tIns="0" rIns="0" bIns="0" rtlCol="0" anchor="ctr"/>
          <a:lstStyle/>
          <a:p>
            <a:pPr marL="0" indent="0">
              <a:buNone/>
            </a:pPr>
            <a:r>
              <a:rPr lang="en-US" sz="1050" dirty="0">
                <a:solidFill>
                  <a:srgbClr val="404040"/>
                </a:solidFill>
                <a:latin typeface="Calibri" pitchFamily="34" charset="0"/>
                <a:ea typeface="Calibri" pitchFamily="34" charset="-122"/>
                <a:cs typeface="Calibri" pitchFamily="34" charset="-120"/>
              </a:rPr>
              <a:t>17 wards</a:t>
            </a:r>
            <a:endParaRPr lang="en-US" sz="1050" dirty="0"/>
          </a:p>
        </p:txBody>
      </p:sp>
      <p:sp>
        <p:nvSpPr>
          <p:cNvPr id="24" name="Text 22"/>
          <p:cNvSpPr/>
          <p:nvPr/>
        </p:nvSpPr>
        <p:spPr>
          <a:xfrm>
            <a:off x="4846320" y="1975104"/>
            <a:ext cx="3749040" cy="384048"/>
          </a:xfrm>
          <a:prstGeom prst="rect">
            <a:avLst/>
          </a:prstGeom>
          <a:noFill/>
          <a:ln/>
        </p:spPr>
        <p:txBody>
          <a:bodyPr wrap="square" lIns="0" tIns="0" rIns="0" bIns="0" rtlCol="0" anchor="ctr"/>
          <a:lstStyle/>
          <a:p>
            <a:pPr marL="0" indent="0">
              <a:lnSpc>
                <a:spcPct val="125000"/>
              </a:lnSpc>
              <a:buNone/>
            </a:pPr>
            <a:r>
              <a:rPr lang="en-US" sz="900" dirty="0">
                <a:solidFill>
                  <a:srgbClr val="595959"/>
                </a:solidFill>
                <a:latin typeface="Calibri" pitchFamily="34" charset="0"/>
                <a:ea typeface="Calibri" pitchFamily="34" charset="-122"/>
                <a:cs typeface="Calibri" pitchFamily="34" charset="-120"/>
              </a:rPr>
              <a:t>Bottom tertile — present at every stage of the pipeline. Immediate intervention needed.</a:t>
            </a:r>
            <a:endParaRPr lang="en-US" sz="900" dirty="0"/>
          </a:p>
        </p:txBody>
      </p:sp>
      <p:sp>
        <p:nvSpPr>
          <p:cNvPr id="25" name="Shape 23"/>
          <p:cNvSpPr/>
          <p:nvPr/>
        </p:nvSpPr>
        <p:spPr>
          <a:xfrm>
            <a:off x="4663440" y="2523744"/>
            <a:ext cx="4023360" cy="777240"/>
          </a:xfrm>
          <a:prstGeom prst="rect">
            <a:avLst/>
          </a:prstGeom>
          <a:solidFill>
            <a:srgbClr val="F5F5F5"/>
          </a:solidFill>
          <a:ln w="6350">
            <a:solidFill>
              <a:srgbClr val="D6DCE4"/>
            </a:solidFill>
            <a:prstDash val="solid"/>
          </a:ln>
        </p:spPr>
        <p:txBody>
          <a:bodyPr/>
          <a:lstStyle/>
          <a:p>
            <a:endParaRPr lang="en-US" sz="2000"/>
          </a:p>
        </p:txBody>
      </p:sp>
      <p:sp>
        <p:nvSpPr>
          <p:cNvPr id="26" name="Shape 24"/>
          <p:cNvSpPr/>
          <p:nvPr/>
        </p:nvSpPr>
        <p:spPr>
          <a:xfrm>
            <a:off x="4663440" y="2523744"/>
            <a:ext cx="50292" cy="777240"/>
          </a:xfrm>
          <a:prstGeom prst="rect">
            <a:avLst/>
          </a:prstGeom>
          <a:solidFill>
            <a:srgbClr val="BF9000"/>
          </a:solidFill>
          <a:ln w="12700">
            <a:solidFill>
              <a:srgbClr val="BF9000"/>
            </a:solidFill>
            <a:prstDash val="solid"/>
          </a:ln>
        </p:spPr>
        <p:txBody>
          <a:bodyPr/>
          <a:lstStyle/>
          <a:p>
            <a:endParaRPr lang="en-US" sz="2000"/>
          </a:p>
        </p:txBody>
      </p:sp>
      <p:sp>
        <p:nvSpPr>
          <p:cNvPr id="27" name="Text 25"/>
          <p:cNvSpPr/>
          <p:nvPr/>
        </p:nvSpPr>
        <p:spPr>
          <a:xfrm>
            <a:off x="4846320" y="2596896"/>
            <a:ext cx="1005840" cy="256032"/>
          </a:xfrm>
          <a:prstGeom prst="rect">
            <a:avLst/>
          </a:prstGeom>
          <a:noFill/>
          <a:ln/>
        </p:spPr>
        <p:txBody>
          <a:bodyPr wrap="square" lIns="0" tIns="0" rIns="0" bIns="0" rtlCol="0" anchor="ctr"/>
          <a:lstStyle/>
          <a:p>
            <a:pPr marL="0" indent="0">
              <a:buNone/>
            </a:pPr>
            <a:r>
              <a:rPr lang="en-US" sz="1200" b="1" dirty="0">
                <a:solidFill>
                  <a:srgbClr val="BF9000"/>
                </a:solidFill>
                <a:latin typeface="Calibri" pitchFamily="34" charset="0"/>
                <a:ea typeface="Calibri" pitchFamily="34" charset="-122"/>
                <a:cs typeface="Calibri" pitchFamily="34" charset="-120"/>
              </a:rPr>
              <a:t>WATCH</a:t>
            </a:r>
            <a:endParaRPr lang="en-US" sz="1200" dirty="0"/>
          </a:p>
        </p:txBody>
      </p:sp>
      <p:sp>
        <p:nvSpPr>
          <p:cNvPr id="28" name="Text 26"/>
          <p:cNvSpPr/>
          <p:nvPr/>
        </p:nvSpPr>
        <p:spPr>
          <a:xfrm>
            <a:off x="5897880" y="2596896"/>
            <a:ext cx="822960" cy="256032"/>
          </a:xfrm>
          <a:prstGeom prst="rect">
            <a:avLst/>
          </a:prstGeom>
          <a:noFill/>
          <a:ln/>
        </p:spPr>
        <p:txBody>
          <a:bodyPr wrap="square" lIns="0" tIns="0" rIns="0" bIns="0" rtlCol="0" anchor="ctr"/>
          <a:lstStyle/>
          <a:p>
            <a:pPr marL="0" indent="0">
              <a:buNone/>
            </a:pPr>
            <a:r>
              <a:rPr lang="en-US" sz="1050" dirty="0">
                <a:solidFill>
                  <a:srgbClr val="404040"/>
                </a:solidFill>
                <a:latin typeface="Calibri" pitchFamily="34" charset="0"/>
                <a:ea typeface="Calibri" pitchFamily="34" charset="-122"/>
                <a:cs typeface="Calibri" pitchFamily="34" charset="-120"/>
              </a:rPr>
              <a:t>17 wards</a:t>
            </a:r>
            <a:endParaRPr lang="en-US" sz="1050" dirty="0"/>
          </a:p>
        </p:txBody>
      </p:sp>
      <p:sp>
        <p:nvSpPr>
          <p:cNvPr id="29" name="Text 27"/>
          <p:cNvSpPr/>
          <p:nvPr/>
        </p:nvSpPr>
        <p:spPr>
          <a:xfrm>
            <a:off x="4846320" y="2871216"/>
            <a:ext cx="3749040" cy="384048"/>
          </a:xfrm>
          <a:prstGeom prst="rect">
            <a:avLst/>
          </a:prstGeom>
          <a:noFill/>
          <a:ln/>
        </p:spPr>
        <p:txBody>
          <a:bodyPr wrap="square" lIns="0" tIns="0" rIns="0" bIns="0" rtlCol="0" anchor="ctr"/>
          <a:lstStyle/>
          <a:p>
            <a:pPr marL="0" indent="0">
              <a:lnSpc>
                <a:spcPct val="125000"/>
              </a:lnSpc>
              <a:buNone/>
            </a:pPr>
            <a:r>
              <a:rPr lang="en-US" sz="900" dirty="0">
                <a:solidFill>
                  <a:srgbClr val="595959"/>
                </a:solidFill>
                <a:latin typeface="Calibri" pitchFamily="34" charset="0"/>
                <a:ea typeface="Calibri" pitchFamily="34" charset="-122"/>
                <a:cs typeface="Calibri" pitchFamily="34" charset="-120"/>
              </a:rPr>
              <a:t>Middle tertile — distress is building. Preventive action now can avoid Critical classification.</a:t>
            </a:r>
            <a:endParaRPr lang="en-US" sz="900" dirty="0"/>
          </a:p>
        </p:txBody>
      </p:sp>
      <p:sp>
        <p:nvSpPr>
          <p:cNvPr id="30" name="Shape 28"/>
          <p:cNvSpPr/>
          <p:nvPr/>
        </p:nvSpPr>
        <p:spPr>
          <a:xfrm>
            <a:off x="4663440" y="3419856"/>
            <a:ext cx="4023360" cy="777240"/>
          </a:xfrm>
          <a:prstGeom prst="rect">
            <a:avLst/>
          </a:prstGeom>
          <a:solidFill>
            <a:srgbClr val="F5F5F5"/>
          </a:solidFill>
          <a:ln w="6350">
            <a:solidFill>
              <a:srgbClr val="D6DCE4"/>
            </a:solidFill>
            <a:prstDash val="solid"/>
          </a:ln>
        </p:spPr>
        <p:txBody>
          <a:bodyPr/>
          <a:lstStyle/>
          <a:p>
            <a:endParaRPr lang="en-US" sz="2000"/>
          </a:p>
        </p:txBody>
      </p:sp>
      <p:sp>
        <p:nvSpPr>
          <p:cNvPr id="31" name="Shape 29"/>
          <p:cNvSpPr/>
          <p:nvPr/>
        </p:nvSpPr>
        <p:spPr>
          <a:xfrm>
            <a:off x="4663440" y="3419856"/>
            <a:ext cx="50292" cy="777240"/>
          </a:xfrm>
          <a:prstGeom prst="rect">
            <a:avLst/>
          </a:prstGeom>
          <a:solidFill>
            <a:srgbClr val="2E7D32"/>
          </a:solidFill>
          <a:ln w="12700">
            <a:solidFill>
              <a:srgbClr val="2E7D32"/>
            </a:solidFill>
            <a:prstDash val="solid"/>
          </a:ln>
        </p:spPr>
        <p:txBody>
          <a:bodyPr/>
          <a:lstStyle/>
          <a:p>
            <a:endParaRPr lang="en-US" sz="2000"/>
          </a:p>
        </p:txBody>
      </p:sp>
      <p:sp>
        <p:nvSpPr>
          <p:cNvPr id="32" name="Text 30"/>
          <p:cNvSpPr/>
          <p:nvPr/>
        </p:nvSpPr>
        <p:spPr>
          <a:xfrm>
            <a:off x="4846320" y="3493008"/>
            <a:ext cx="1005840" cy="256032"/>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LOW</a:t>
            </a:r>
            <a:endParaRPr lang="en-US" sz="1200" dirty="0"/>
          </a:p>
        </p:txBody>
      </p:sp>
      <p:sp>
        <p:nvSpPr>
          <p:cNvPr id="33" name="Text 31"/>
          <p:cNvSpPr/>
          <p:nvPr/>
        </p:nvSpPr>
        <p:spPr>
          <a:xfrm>
            <a:off x="5897880" y="3493008"/>
            <a:ext cx="822960" cy="256032"/>
          </a:xfrm>
          <a:prstGeom prst="rect">
            <a:avLst/>
          </a:prstGeom>
          <a:noFill/>
          <a:ln/>
        </p:spPr>
        <p:txBody>
          <a:bodyPr wrap="square" lIns="0" tIns="0" rIns="0" bIns="0" rtlCol="0" anchor="ctr"/>
          <a:lstStyle/>
          <a:p>
            <a:pPr marL="0" indent="0">
              <a:buNone/>
            </a:pPr>
            <a:r>
              <a:rPr lang="en-US" sz="1050" dirty="0">
                <a:solidFill>
                  <a:srgbClr val="404040"/>
                </a:solidFill>
                <a:latin typeface="Calibri" pitchFamily="34" charset="0"/>
                <a:ea typeface="Calibri" pitchFamily="34" charset="-122"/>
                <a:cs typeface="Calibri" pitchFamily="34" charset="-120"/>
              </a:rPr>
              <a:t>16 wards</a:t>
            </a:r>
            <a:endParaRPr lang="en-US" sz="1050" dirty="0"/>
          </a:p>
        </p:txBody>
      </p:sp>
      <p:sp>
        <p:nvSpPr>
          <p:cNvPr id="34" name="Text 32"/>
          <p:cNvSpPr/>
          <p:nvPr/>
        </p:nvSpPr>
        <p:spPr>
          <a:xfrm>
            <a:off x="4846320" y="3767328"/>
            <a:ext cx="3749040" cy="384048"/>
          </a:xfrm>
          <a:prstGeom prst="rect">
            <a:avLst/>
          </a:prstGeom>
          <a:noFill/>
          <a:ln/>
        </p:spPr>
        <p:txBody>
          <a:bodyPr wrap="square" lIns="0" tIns="0" rIns="0" bIns="0" rtlCol="0" anchor="ctr"/>
          <a:lstStyle/>
          <a:p>
            <a:pPr marL="0" indent="0">
              <a:lnSpc>
                <a:spcPct val="125000"/>
              </a:lnSpc>
              <a:buNone/>
            </a:pPr>
            <a:r>
              <a:rPr lang="en-US" sz="900" dirty="0">
                <a:solidFill>
                  <a:srgbClr val="595959"/>
                </a:solidFill>
                <a:latin typeface="Calibri" pitchFamily="34" charset="0"/>
                <a:ea typeface="Calibri" pitchFamily="34" charset="-122"/>
                <a:cs typeface="Calibri" pitchFamily="34" charset="-120"/>
              </a:rPr>
              <a:t>Top tertile — relatively stable. Maintain monitoring and proactive service delivery.</a:t>
            </a:r>
            <a:endParaRPr lang="en-US" sz="900" dirty="0"/>
          </a:p>
        </p:txBody>
      </p:sp>
      <p:sp>
        <p:nvSpPr>
          <p:cNvPr id="35" name="Shape 33"/>
          <p:cNvSpPr/>
          <p:nvPr/>
        </p:nvSpPr>
        <p:spPr>
          <a:xfrm>
            <a:off x="4663440" y="4343400"/>
            <a:ext cx="4023360" cy="502920"/>
          </a:xfrm>
          <a:prstGeom prst="rect">
            <a:avLst/>
          </a:prstGeom>
          <a:solidFill>
            <a:srgbClr val="1A2744"/>
          </a:solidFill>
          <a:ln w="12700">
            <a:solidFill>
              <a:srgbClr val="1A2744"/>
            </a:solidFill>
            <a:prstDash val="solid"/>
          </a:ln>
        </p:spPr>
        <p:txBody>
          <a:bodyPr/>
          <a:lstStyle/>
          <a:p>
            <a:endParaRPr lang="en-US" sz="2000"/>
          </a:p>
        </p:txBody>
      </p:sp>
      <p:sp>
        <p:nvSpPr>
          <p:cNvPr id="36" name="Text 34"/>
          <p:cNvSpPr/>
          <p:nvPr/>
        </p:nvSpPr>
        <p:spPr>
          <a:xfrm>
            <a:off x="4663440" y="4343400"/>
            <a:ext cx="4023360" cy="502920"/>
          </a:xfrm>
          <a:prstGeom prst="rect">
            <a:avLst/>
          </a:prstGeom>
          <a:noFill/>
          <a:ln/>
        </p:spPr>
        <p:txBody>
          <a:bodyPr wrap="square" lIns="0" tIns="0" rIns="0" bIns="0" rtlCol="0" anchor="ctr"/>
          <a:lstStyle/>
          <a:p>
            <a:pPr marL="0" indent="0" algn="ctr">
              <a:buNone/>
            </a:pPr>
            <a:r>
              <a:rPr lang="en-US" sz="1000" b="1" dirty="0">
                <a:solidFill>
                  <a:srgbClr val="BDD7EE"/>
                </a:solidFill>
                <a:latin typeface="Calibri" pitchFamily="34" charset="0"/>
                <a:ea typeface="Calibri" pitchFamily="34" charset="-122"/>
                <a:cs typeface="Calibri" pitchFamily="34" charset="-120"/>
              </a:rPr>
              <a:t>Interactive Dashboard: wardleveldebt.streamlit.app</a:t>
            </a:r>
            <a:endParaRPr lang="en-US" sz="1000" dirty="0"/>
          </a:p>
        </p:txBody>
      </p:sp>
      <p:sp>
        <p:nvSpPr>
          <p:cNvPr id="37" name="Shape 35"/>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38" name="Text 36"/>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39" name="Text 37"/>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744"/>
          </a:solidFill>
          <a:ln w="12700">
            <a:solidFill>
              <a:srgbClr val="1A2744"/>
            </a:solidFill>
            <a:prstDash val="solid"/>
          </a:ln>
        </p:spPr>
        <p:txBody>
          <a:bodyPr/>
          <a:lstStyle/>
          <a:p>
            <a:endParaRPr lang="en-US" sz="2000"/>
          </a:p>
        </p:txBody>
      </p:sp>
      <p:sp>
        <p:nvSpPr>
          <p:cNvPr id="3" name="Text 1"/>
          <p:cNvSpPr/>
          <p:nvPr/>
        </p:nvSpPr>
        <p:spPr>
          <a:xfrm>
            <a:off x="457200" y="0"/>
            <a:ext cx="8229600" cy="594360"/>
          </a:xfrm>
          <a:prstGeom prst="rect">
            <a:avLst/>
          </a:prstGeom>
          <a:noFill/>
          <a:ln/>
        </p:spPr>
        <p:txBody>
          <a:bodyPr wrap="square" rtlCol="0" anchor="ctr"/>
          <a:lstStyle/>
          <a:p>
            <a:pPr marL="0" indent="0">
              <a:buNone/>
            </a:pPr>
            <a:r>
              <a:rPr lang="en-US" sz="1050" b="1" kern="0" spc="300" dirty="0">
                <a:solidFill>
                  <a:srgbClr val="FFFFFF"/>
                </a:solidFill>
                <a:latin typeface="Calibri" pitchFamily="34" charset="0"/>
                <a:ea typeface="Calibri" pitchFamily="34" charset="-122"/>
                <a:cs typeface="Calibri" pitchFamily="34" charset="-120"/>
              </a:rPr>
              <a:t>POLICY RECOMMENDATIONS</a:t>
            </a:r>
            <a:endParaRPr lang="en-US" sz="1050" dirty="0"/>
          </a:p>
        </p:txBody>
      </p:sp>
      <p:sp>
        <p:nvSpPr>
          <p:cNvPr id="4" name="Text 2"/>
          <p:cNvSpPr/>
          <p:nvPr/>
        </p:nvSpPr>
        <p:spPr>
          <a:xfrm>
            <a:off x="457200" y="685800"/>
            <a:ext cx="8229600" cy="457200"/>
          </a:xfrm>
          <a:prstGeom prst="rect">
            <a:avLst/>
          </a:prstGeom>
          <a:noFill/>
          <a:ln/>
        </p:spPr>
        <p:txBody>
          <a:bodyPr wrap="square" rtlCol="0" anchor="ctr"/>
          <a:lstStyle/>
          <a:p>
            <a:pPr marL="0" indent="0">
              <a:buNone/>
            </a:pPr>
            <a:r>
              <a:rPr lang="en-US" sz="2400" b="1" dirty="0">
                <a:solidFill>
                  <a:srgbClr val="1A2744"/>
                </a:solidFill>
                <a:latin typeface="Calibri" pitchFamily="34" charset="0"/>
                <a:ea typeface="Calibri" pitchFamily="34" charset="-122"/>
                <a:cs typeface="Calibri" pitchFamily="34" charset="-120"/>
              </a:rPr>
              <a:t>Four Levers to Break the Cycle of Disinvestment</a:t>
            </a:r>
            <a:endParaRPr lang="en-US" sz="2400" dirty="0"/>
          </a:p>
        </p:txBody>
      </p:sp>
      <p:sp>
        <p:nvSpPr>
          <p:cNvPr id="5" name="Text 3"/>
          <p:cNvSpPr/>
          <p:nvPr/>
        </p:nvSpPr>
        <p:spPr>
          <a:xfrm>
            <a:off x="457200" y="1170432"/>
            <a:ext cx="8229600" cy="347472"/>
          </a:xfrm>
          <a:prstGeom prst="rect">
            <a:avLst/>
          </a:prstGeom>
          <a:noFill/>
          <a:ln/>
        </p:spPr>
        <p:txBody>
          <a:bodyPr wrap="square" rtlCol="0" anchor="ctr"/>
          <a:lstStyle/>
          <a:p>
            <a:pPr marL="0" indent="0">
              <a:buNone/>
            </a:pPr>
            <a:r>
              <a:rPr lang="en-US" sz="1100" dirty="0">
                <a:solidFill>
                  <a:srgbClr val="595959"/>
                </a:solidFill>
                <a:latin typeface="Calibri" pitchFamily="34" charset="0"/>
                <a:ea typeface="Calibri" pitchFamily="34" charset="-122"/>
                <a:cs typeface="Calibri" pitchFamily="34" charset="-120"/>
              </a:rPr>
              <a:t>Recommendations follow directly from the data. The through-line: the data gives us the map — acting before properties reach the point of no return is a policy choice.</a:t>
            </a:r>
            <a:endParaRPr lang="en-US" sz="1100" dirty="0"/>
          </a:p>
        </p:txBody>
      </p:sp>
      <p:sp>
        <p:nvSpPr>
          <p:cNvPr id="6" name="Shape 4"/>
          <p:cNvSpPr/>
          <p:nvPr/>
        </p:nvSpPr>
        <p:spPr>
          <a:xfrm>
            <a:off x="457200" y="1581912"/>
            <a:ext cx="8229600" cy="0"/>
          </a:xfrm>
          <a:prstGeom prst="line">
            <a:avLst/>
          </a:prstGeom>
          <a:noFill/>
          <a:ln w="6350">
            <a:solidFill>
              <a:srgbClr val="D0D7E3"/>
            </a:solidFill>
            <a:prstDash val="solid"/>
          </a:ln>
        </p:spPr>
        <p:txBody>
          <a:bodyPr/>
          <a:lstStyle/>
          <a:p>
            <a:endParaRPr lang="en-US" sz="2000"/>
          </a:p>
        </p:txBody>
      </p:sp>
      <p:sp>
        <p:nvSpPr>
          <p:cNvPr id="7" name="Shape 5"/>
          <p:cNvSpPr/>
          <p:nvPr/>
        </p:nvSpPr>
        <p:spPr>
          <a:xfrm>
            <a:off x="457200" y="1664208"/>
            <a:ext cx="4251960" cy="1353312"/>
          </a:xfrm>
          <a:prstGeom prst="rect">
            <a:avLst/>
          </a:prstGeom>
          <a:solidFill>
            <a:srgbClr val="F5F5F5"/>
          </a:solidFill>
          <a:ln w="6350">
            <a:solidFill>
              <a:srgbClr val="D6DCE4"/>
            </a:solidFill>
            <a:prstDash val="solid"/>
          </a:ln>
        </p:spPr>
        <p:txBody>
          <a:bodyPr/>
          <a:lstStyle/>
          <a:p>
            <a:endParaRPr lang="en-US" sz="2000"/>
          </a:p>
        </p:txBody>
      </p:sp>
      <p:sp>
        <p:nvSpPr>
          <p:cNvPr id="8" name="Shape 6"/>
          <p:cNvSpPr/>
          <p:nvPr/>
        </p:nvSpPr>
        <p:spPr>
          <a:xfrm>
            <a:off x="457200" y="1664208"/>
            <a:ext cx="50292" cy="1353312"/>
          </a:xfrm>
          <a:prstGeom prst="rect">
            <a:avLst/>
          </a:prstGeom>
          <a:solidFill>
            <a:srgbClr val="2E75B6"/>
          </a:solidFill>
          <a:ln w="12700">
            <a:solidFill>
              <a:srgbClr val="2E75B6"/>
            </a:solidFill>
            <a:prstDash val="solid"/>
          </a:ln>
        </p:spPr>
        <p:txBody>
          <a:bodyPr/>
          <a:lstStyle/>
          <a:p>
            <a:endParaRPr lang="en-US" sz="2000"/>
          </a:p>
        </p:txBody>
      </p:sp>
      <p:sp>
        <p:nvSpPr>
          <p:cNvPr id="9" name="Text 7"/>
          <p:cNvSpPr/>
          <p:nvPr/>
        </p:nvSpPr>
        <p:spPr>
          <a:xfrm>
            <a:off x="640080" y="1746504"/>
            <a:ext cx="402336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01  Interrupt the Pipeline Early</a:t>
            </a:r>
            <a:endParaRPr lang="en-US" sz="1100" dirty="0"/>
          </a:p>
        </p:txBody>
      </p:sp>
      <p:sp>
        <p:nvSpPr>
          <p:cNvPr id="10" name="Text 8"/>
          <p:cNvSpPr/>
          <p:nvPr/>
        </p:nvSpPr>
        <p:spPr>
          <a:xfrm>
            <a:off x="640080" y="2048256"/>
            <a:ext cx="4023360" cy="713232"/>
          </a:xfrm>
          <a:prstGeom prst="rect">
            <a:avLst/>
          </a:prstGeom>
          <a:noFill/>
          <a:ln/>
        </p:spPr>
        <p:txBody>
          <a:bodyPr wrap="square" lIns="0" tIns="0" rIns="0" bIns="0" rtlCol="0" anchor="ctr"/>
          <a:lstStyle/>
          <a:p>
            <a:pPr marL="0" indent="0">
              <a:lnSpc>
                <a:spcPct val="130000"/>
              </a:lnSpc>
              <a:buNone/>
            </a:pPr>
            <a:r>
              <a:rPr lang="en-US" sz="900" dirty="0">
                <a:solidFill>
                  <a:srgbClr val="595959"/>
                </a:solidFill>
                <a:latin typeface="Calibri" pitchFamily="34" charset="0"/>
                <a:ea typeface="Calibri" pitchFamily="34" charset="-122"/>
                <a:cs typeface="Calibri" pitchFamily="34" charset="-120"/>
              </a:rPr>
              <a:t>The most cost-effective intervention is before foreclosure, not after demolition. Once a property is vacant land, revenue is permanently lost. Act when debt is still accumulating and the owner is still reachable.</a:t>
            </a:r>
            <a:endParaRPr lang="en-US" sz="900" dirty="0"/>
          </a:p>
        </p:txBody>
      </p:sp>
      <p:sp>
        <p:nvSpPr>
          <p:cNvPr id="11" name="Shape 9"/>
          <p:cNvSpPr/>
          <p:nvPr/>
        </p:nvSpPr>
        <p:spPr>
          <a:xfrm>
            <a:off x="640080" y="2798064"/>
            <a:ext cx="4023360" cy="164592"/>
          </a:xfrm>
          <a:prstGeom prst="rect">
            <a:avLst/>
          </a:prstGeom>
          <a:solidFill>
            <a:srgbClr val="000000"/>
          </a:solidFill>
          <a:ln w="12700">
            <a:solidFill>
              <a:srgbClr val="000000"/>
            </a:solidFill>
            <a:prstDash val="solid"/>
          </a:ln>
        </p:spPr>
        <p:txBody>
          <a:bodyPr/>
          <a:lstStyle/>
          <a:p>
            <a:endParaRPr lang="en-US" sz="2000"/>
          </a:p>
        </p:txBody>
      </p:sp>
      <p:sp>
        <p:nvSpPr>
          <p:cNvPr id="12" name="Text 10"/>
          <p:cNvSpPr/>
          <p:nvPr/>
        </p:nvSpPr>
        <p:spPr>
          <a:xfrm>
            <a:off x="640080" y="2779776"/>
            <a:ext cx="4023360" cy="182880"/>
          </a:xfrm>
          <a:prstGeom prst="rect">
            <a:avLst/>
          </a:prstGeom>
          <a:noFill/>
          <a:ln/>
        </p:spPr>
        <p:txBody>
          <a:bodyPr wrap="square" lIns="0" tIns="0" rIns="0" bIns="0" rtlCol="0" anchor="ctr"/>
          <a:lstStyle/>
          <a:p>
            <a:pPr marL="0" indent="0">
              <a:buNone/>
            </a:pPr>
            <a:r>
              <a:rPr lang="en-US" sz="800" b="1" dirty="0">
                <a:solidFill>
                  <a:schemeClr val="bg1"/>
                </a:solidFill>
                <a:latin typeface="Calibri" pitchFamily="34" charset="0"/>
                <a:ea typeface="Calibri" pitchFamily="34" charset="-122"/>
                <a:cs typeface="Calibri" pitchFamily="34" charset="-120"/>
              </a:rPr>
              <a:t>   Prevents downstream demolition costs</a:t>
            </a:r>
            <a:endParaRPr lang="en-US" sz="800" dirty="0">
              <a:solidFill>
                <a:schemeClr val="bg1"/>
              </a:solidFill>
            </a:endParaRPr>
          </a:p>
        </p:txBody>
      </p:sp>
      <p:sp>
        <p:nvSpPr>
          <p:cNvPr id="13" name="Shape 11"/>
          <p:cNvSpPr/>
          <p:nvPr/>
        </p:nvSpPr>
        <p:spPr>
          <a:xfrm>
            <a:off x="457200" y="3172968"/>
            <a:ext cx="4251960" cy="1353312"/>
          </a:xfrm>
          <a:prstGeom prst="rect">
            <a:avLst/>
          </a:prstGeom>
          <a:solidFill>
            <a:srgbClr val="F5F5F5"/>
          </a:solidFill>
          <a:ln w="6350">
            <a:solidFill>
              <a:srgbClr val="D6DCE4"/>
            </a:solidFill>
            <a:prstDash val="solid"/>
          </a:ln>
        </p:spPr>
        <p:txBody>
          <a:bodyPr/>
          <a:lstStyle/>
          <a:p>
            <a:endParaRPr lang="en-US" sz="2000"/>
          </a:p>
        </p:txBody>
      </p:sp>
      <p:sp>
        <p:nvSpPr>
          <p:cNvPr id="14" name="Shape 12"/>
          <p:cNvSpPr/>
          <p:nvPr/>
        </p:nvSpPr>
        <p:spPr>
          <a:xfrm>
            <a:off x="457200" y="3172968"/>
            <a:ext cx="50292" cy="1353312"/>
          </a:xfrm>
          <a:prstGeom prst="rect">
            <a:avLst/>
          </a:prstGeom>
          <a:solidFill>
            <a:srgbClr val="C00000"/>
          </a:solidFill>
          <a:ln w="12700">
            <a:solidFill>
              <a:srgbClr val="C00000"/>
            </a:solidFill>
            <a:prstDash val="solid"/>
          </a:ln>
        </p:spPr>
        <p:txBody>
          <a:bodyPr/>
          <a:lstStyle/>
          <a:p>
            <a:endParaRPr lang="en-US" sz="2000"/>
          </a:p>
        </p:txBody>
      </p:sp>
      <p:sp>
        <p:nvSpPr>
          <p:cNvPr id="15" name="Text 13"/>
          <p:cNvSpPr/>
          <p:nvPr/>
        </p:nvSpPr>
        <p:spPr>
          <a:xfrm>
            <a:off x="640080" y="3255264"/>
            <a:ext cx="402336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02  Targeted Penalty Waiver Program</a:t>
            </a:r>
            <a:endParaRPr lang="en-US" sz="1100" dirty="0"/>
          </a:p>
        </p:txBody>
      </p:sp>
      <p:sp>
        <p:nvSpPr>
          <p:cNvPr id="16" name="Text 14"/>
          <p:cNvSpPr/>
          <p:nvPr/>
        </p:nvSpPr>
        <p:spPr>
          <a:xfrm>
            <a:off x="640080" y="3557016"/>
            <a:ext cx="4023360" cy="713232"/>
          </a:xfrm>
          <a:prstGeom prst="rect">
            <a:avLst/>
          </a:prstGeom>
          <a:noFill/>
          <a:ln/>
        </p:spPr>
        <p:txBody>
          <a:bodyPr wrap="square" lIns="0" tIns="0" rIns="0" bIns="0" rtlCol="0" anchor="ctr"/>
          <a:lstStyle/>
          <a:p>
            <a:pPr marL="0" indent="0">
              <a:lnSpc>
                <a:spcPct val="130000"/>
              </a:lnSpc>
              <a:buNone/>
            </a:pPr>
            <a:r>
              <a:rPr lang="en-US" sz="900" dirty="0">
                <a:solidFill>
                  <a:srgbClr val="595959"/>
                </a:solidFill>
                <a:latin typeface="Calibri" pitchFamily="34" charset="0"/>
                <a:ea typeface="Calibri" pitchFamily="34" charset="-122"/>
                <a:cs typeface="Calibri" pitchFamily="34" charset="-120"/>
              </a:rPr>
              <a:t>Nearly 46% of outstanding debt in Critical wards is city-imposed penalties — not service debt. A waiver program that eliminates accumulated fees (conditional on bringing service debt current) could unlock private reinvestment without forgiving legitimate service debt.</a:t>
            </a:r>
            <a:endParaRPr lang="en-US" sz="900" dirty="0"/>
          </a:p>
        </p:txBody>
      </p:sp>
      <p:sp>
        <p:nvSpPr>
          <p:cNvPr id="17" name="Shape 15"/>
          <p:cNvSpPr/>
          <p:nvPr/>
        </p:nvSpPr>
        <p:spPr>
          <a:xfrm>
            <a:off x="640080" y="4306824"/>
            <a:ext cx="4023360" cy="164592"/>
          </a:xfrm>
          <a:prstGeom prst="rect">
            <a:avLst/>
          </a:prstGeom>
          <a:solidFill>
            <a:srgbClr val="000000"/>
          </a:solidFill>
          <a:ln w="12700">
            <a:solidFill>
              <a:srgbClr val="000000"/>
            </a:solidFill>
            <a:prstDash val="solid"/>
          </a:ln>
        </p:spPr>
        <p:txBody>
          <a:bodyPr/>
          <a:lstStyle/>
          <a:p>
            <a:endParaRPr lang="en-US" sz="2000"/>
          </a:p>
        </p:txBody>
      </p:sp>
      <p:sp>
        <p:nvSpPr>
          <p:cNvPr id="18" name="Text 16"/>
          <p:cNvSpPr/>
          <p:nvPr/>
        </p:nvSpPr>
        <p:spPr>
          <a:xfrm>
            <a:off x="640080" y="4288536"/>
            <a:ext cx="4023360" cy="182880"/>
          </a:xfrm>
          <a:prstGeom prst="rect">
            <a:avLst/>
          </a:prstGeom>
          <a:noFill/>
          <a:ln/>
        </p:spPr>
        <p:txBody>
          <a:bodyPr wrap="square" lIns="0" tIns="0" rIns="0" bIns="0" rtlCol="0" anchor="ctr"/>
          <a:lstStyle/>
          <a:p>
            <a:pPr marL="0" indent="0">
              <a:buNone/>
            </a:pPr>
            <a:r>
              <a:rPr lang="en-US" sz="800" b="1" dirty="0">
                <a:solidFill>
                  <a:schemeClr val="bg1"/>
                </a:solidFill>
                <a:latin typeface="Calibri" pitchFamily="34" charset="0"/>
                <a:ea typeface="Calibri" pitchFamily="34" charset="-122"/>
                <a:cs typeface="Calibri" pitchFamily="34" charset="-120"/>
              </a:rPr>
              <a:t>   Reduces structural barrier to reinvestment</a:t>
            </a:r>
            <a:endParaRPr lang="en-US" sz="800" dirty="0">
              <a:solidFill>
                <a:schemeClr val="bg1"/>
              </a:solidFill>
            </a:endParaRPr>
          </a:p>
        </p:txBody>
      </p:sp>
      <p:sp>
        <p:nvSpPr>
          <p:cNvPr id="19" name="Shape 17"/>
          <p:cNvSpPr/>
          <p:nvPr/>
        </p:nvSpPr>
        <p:spPr>
          <a:xfrm>
            <a:off x="4846320" y="1664208"/>
            <a:ext cx="4251960" cy="1353312"/>
          </a:xfrm>
          <a:prstGeom prst="rect">
            <a:avLst/>
          </a:prstGeom>
          <a:solidFill>
            <a:srgbClr val="F5F5F5"/>
          </a:solidFill>
          <a:ln w="6350">
            <a:solidFill>
              <a:srgbClr val="D6DCE4"/>
            </a:solidFill>
            <a:prstDash val="solid"/>
          </a:ln>
        </p:spPr>
        <p:txBody>
          <a:bodyPr/>
          <a:lstStyle/>
          <a:p>
            <a:endParaRPr lang="en-US" sz="2000"/>
          </a:p>
        </p:txBody>
      </p:sp>
      <p:sp>
        <p:nvSpPr>
          <p:cNvPr id="20" name="Shape 18"/>
          <p:cNvSpPr/>
          <p:nvPr/>
        </p:nvSpPr>
        <p:spPr>
          <a:xfrm>
            <a:off x="4846320" y="1664208"/>
            <a:ext cx="50292" cy="1353312"/>
          </a:xfrm>
          <a:prstGeom prst="rect">
            <a:avLst/>
          </a:prstGeom>
          <a:solidFill>
            <a:srgbClr val="2E7D32"/>
          </a:solidFill>
          <a:ln w="12700">
            <a:solidFill>
              <a:srgbClr val="2E7D32"/>
            </a:solidFill>
            <a:prstDash val="solid"/>
          </a:ln>
        </p:spPr>
        <p:txBody>
          <a:bodyPr/>
          <a:lstStyle/>
          <a:p>
            <a:endParaRPr lang="en-US" sz="2000"/>
          </a:p>
        </p:txBody>
      </p:sp>
      <p:sp>
        <p:nvSpPr>
          <p:cNvPr id="21" name="Text 19"/>
          <p:cNvSpPr/>
          <p:nvPr/>
        </p:nvSpPr>
        <p:spPr>
          <a:xfrm>
            <a:off x="5029200" y="1746504"/>
            <a:ext cx="402336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03  Proactive Debt Intervention</a:t>
            </a:r>
            <a:endParaRPr lang="en-US" sz="1100" dirty="0"/>
          </a:p>
        </p:txBody>
      </p:sp>
      <p:sp>
        <p:nvSpPr>
          <p:cNvPr id="22" name="Text 20"/>
          <p:cNvSpPr/>
          <p:nvPr/>
        </p:nvSpPr>
        <p:spPr>
          <a:xfrm>
            <a:off x="5029200" y="2048256"/>
            <a:ext cx="4023360" cy="713232"/>
          </a:xfrm>
          <a:prstGeom prst="rect">
            <a:avLst/>
          </a:prstGeom>
          <a:noFill/>
          <a:ln/>
        </p:spPr>
        <p:txBody>
          <a:bodyPr wrap="square" lIns="0" tIns="0" rIns="0" bIns="0" rtlCol="0" anchor="ctr"/>
          <a:lstStyle/>
          <a:p>
            <a:pPr marL="0" indent="0">
              <a:lnSpc>
                <a:spcPct val="130000"/>
              </a:lnSpc>
              <a:buNone/>
            </a:pPr>
            <a:r>
              <a:rPr lang="en-US" sz="900" dirty="0">
                <a:solidFill>
                  <a:srgbClr val="595959"/>
                </a:solidFill>
                <a:latin typeface="Calibri" pitchFamily="34" charset="0"/>
                <a:ea typeface="Calibri" pitchFamily="34" charset="-122"/>
                <a:cs typeface="Calibri" pitchFamily="34" charset="-120"/>
              </a:rPr>
              <a:t>Outreach to property owners with large unpaid balances before they reach the abandonment threshold. Debt restructuring. Connection to assistance programs. The city already has this data at the parcel level — using it proactively is a policy choice.</a:t>
            </a:r>
            <a:endParaRPr lang="en-US" sz="900" dirty="0"/>
          </a:p>
        </p:txBody>
      </p:sp>
      <p:sp>
        <p:nvSpPr>
          <p:cNvPr id="23" name="Shape 21"/>
          <p:cNvSpPr/>
          <p:nvPr/>
        </p:nvSpPr>
        <p:spPr>
          <a:xfrm>
            <a:off x="5029200" y="2798064"/>
            <a:ext cx="4023360" cy="164592"/>
          </a:xfrm>
          <a:prstGeom prst="rect">
            <a:avLst/>
          </a:prstGeom>
          <a:solidFill>
            <a:srgbClr val="000000"/>
          </a:solidFill>
          <a:ln w="12700">
            <a:solidFill>
              <a:srgbClr val="000000"/>
            </a:solidFill>
            <a:prstDash val="solid"/>
          </a:ln>
        </p:spPr>
        <p:txBody>
          <a:bodyPr/>
          <a:lstStyle/>
          <a:p>
            <a:endParaRPr lang="en-US" sz="2000"/>
          </a:p>
        </p:txBody>
      </p:sp>
      <p:sp>
        <p:nvSpPr>
          <p:cNvPr id="24" name="Text 22"/>
          <p:cNvSpPr/>
          <p:nvPr/>
        </p:nvSpPr>
        <p:spPr>
          <a:xfrm>
            <a:off x="5029200" y="2779776"/>
            <a:ext cx="4023360" cy="182880"/>
          </a:xfrm>
          <a:prstGeom prst="rect">
            <a:avLst/>
          </a:prstGeom>
          <a:noFill/>
          <a:ln/>
        </p:spPr>
        <p:txBody>
          <a:bodyPr wrap="square" lIns="0" tIns="0" rIns="0" bIns="0" rtlCol="0" anchor="ctr"/>
          <a:lstStyle/>
          <a:p>
            <a:pPr marL="0" indent="0">
              <a:buNone/>
            </a:pPr>
            <a:r>
              <a:rPr lang="en-US" sz="800" b="1" dirty="0">
                <a:solidFill>
                  <a:schemeClr val="bg1"/>
                </a:solidFill>
                <a:latin typeface="Calibri" pitchFamily="34" charset="0"/>
                <a:ea typeface="Calibri" pitchFamily="34" charset="-122"/>
                <a:cs typeface="Calibri" pitchFamily="34" charset="-120"/>
              </a:rPr>
              <a:t>   Leverages existing parcel-level data assets</a:t>
            </a:r>
            <a:endParaRPr lang="en-US" sz="800" dirty="0">
              <a:solidFill>
                <a:schemeClr val="bg1"/>
              </a:solidFill>
            </a:endParaRPr>
          </a:p>
        </p:txBody>
      </p:sp>
      <p:sp>
        <p:nvSpPr>
          <p:cNvPr id="25" name="Shape 23"/>
          <p:cNvSpPr/>
          <p:nvPr/>
        </p:nvSpPr>
        <p:spPr>
          <a:xfrm>
            <a:off x="4846320" y="3172968"/>
            <a:ext cx="4251960" cy="1353312"/>
          </a:xfrm>
          <a:prstGeom prst="rect">
            <a:avLst/>
          </a:prstGeom>
          <a:solidFill>
            <a:srgbClr val="F5F5F5"/>
          </a:solidFill>
          <a:ln w="6350">
            <a:solidFill>
              <a:srgbClr val="D6DCE4"/>
            </a:solidFill>
            <a:prstDash val="solid"/>
          </a:ln>
        </p:spPr>
        <p:txBody>
          <a:bodyPr/>
          <a:lstStyle/>
          <a:p>
            <a:endParaRPr lang="en-US" sz="2000"/>
          </a:p>
        </p:txBody>
      </p:sp>
      <p:sp>
        <p:nvSpPr>
          <p:cNvPr id="26" name="Shape 24"/>
          <p:cNvSpPr/>
          <p:nvPr/>
        </p:nvSpPr>
        <p:spPr>
          <a:xfrm>
            <a:off x="4846320" y="3172968"/>
            <a:ext cx="50292" cy="1353312"/>
          </a:xfrm>
          <a:prstGeom prst="rect">
            <a:avLst/>
          </a:prstGeom>
          <a:solidFill>
            <a:srgbClr val="7B4F00"/>
          </a:solidFill>
          <a:ln w="12700">
            <a:solidFill>
              <a:srgbClr val="7B4F00"/>
            </a:solidFill>
            <a:prstDash val="solid"/>
          </a:ln>
        </p:spPr>
        <p:txBody>
          <a:bodyPr/>
          <a:lstStyle/>
          <a:p>
            <a:endParaRPr lang="en-US" sz="2000"/>
          </a:p>
        </p:txBody>
      </p:sp>
      <p:sp>
        <p:nvSpPr>
          <p:cNvPr id="27" name="Text 25"/>
          <p:cNvSpPr/>
          <p:nvPr/>
        </p:nvSpPr>
        <p:spPr>
          <a:xfrm>
            <a:off x="5029200" y="3255264"/>
            <a:ext cx="4023360" cy="274320"/>
          </a:xfrm>
          <a:prstGeom prst="rect">
            <a:avLst/>
          </a:prstGeom>
          <a:noFill/>
          <a:ln/>
        </p:spPr>
        <p:txBody>
          <a:bodyPr wrap="square" lIns="0" tIns="0" rIns="0" bIns="0"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04  Stabilization Over Demolition</a:t>
            </a:r>
            <a:endParaRPr lang="en-US" sz="1100" dirty="0"/>
          </a:p>
        </p:txBody>
      </p:sp>
      <p:sp>
        <p:nvSpPr>
          <p:cNvPr id="28" name="Text 26"/>
          <p:cNvSpPr/>
          <p:nvPr/>
        </p:nvSpPr>
        <p:spPr>
          <a:xfrm>
            <a:off x="5029200" y="3557016"/>
            <a:ext cx="4023360" cy="713232"/>
          </a:xfrm>
          <a:prstGeom prst="rect">
            <a:avLst/>
          </a:prstGeom>
          <a:noFill/>
          <a:ln/>
        </p:spPr>
        <p:txBody>
          <a:bodyPr wrap="square" lIns="0" tIns="0" rIns="0" bIns="0" rtlCol="0" anchor="ctr"/>
          <a:lstStyle/>
          <a:p>
            <a:pPr marL="0" indent="0">
              <a:lnSpc>
                <a:spcPct val="130000"/>
              </a:lnSpc>
              <a:buNone/>
            </a:pPr>
            <a:r>
              <a:rPr lang="en-US" sz="900" dirty="0">
                <a:solidFill>
                  <a:srgbClr val="595959"/>
                </a:solidFill>
                <a:latin typeface="Calibri" pitchFamily="34" charset="0"/>
                <a:ea typeface="Calibri" pitchFamily="34" charset="-122"/>
                <a:cs typeface="Calibri" pitchFamily="34" charset="-120"/>
              </a:rPr>
              <a:t>Demolition is expensive and permanent. Proactive inspections and targeted maintenance support are cheaper. For wards already in the Critical tier, land bank programs and rehabilitation grants can activate parcels that would otherwise remain idle indefinitely.</a:t>
            </a:r>
            <a:endParaRPr lang="en-US" sz="900" dirty="0"/>
          </a:p>
        </p:txBody>
      </p:sp>
      <p:sp>
        <p:nvSpPr>
          <p:cNvPr id="29" name="Shape 27"/>
          <p:cNvSpPr/>
          <p:nvPr/>
        </p:nvSpPr>
        <p:spPr>
          <a:xfrm>
            <a:off x="5029200" y="4306824"/>
            <a:ext cx="4023360" cy="164592"/>
          </a:xfrm>
          <a:prstGeom prst="rect">
            <a:avLst/>
          </a:prstGeom>
          <a:solidFill>
            <a:srgbClr val="000000"/>
          </a:solidFill>
          <a:ln w="12700">
            <a:solidFill>
              <a:srgbClr val="000000"/>
            </a:solidFill>
            <a:prstDash val="solid"/>
          </a:ln>
        </p:spPr>
        <p:txBody>
          <a:bodyPr/>
          <a:lstStyle/>
          <a:p>
            <a:endParaRPr lang="en-US" sz="2000"/>
          </a:p>
        </p:txBody>
      </p:sp>
      <p:sp>
        <p:nvSpPr>
          <p:cNvPr id="30" name="Text 28"/>
          <p:cNvSpPr/>
          <p:nvPr/>
        </p:nvSpPr>
        <p:spPr>
          <a:xfrm>
            <a:off x="5029200" y="4288536"/>
            <a:ext cx="4023360" cy="182880"/>
          </a:xfrm>
          <a:prstGeom prst="rect">
            <a:avLst/>
          </a:prstGeom>
          <a:noFill/>
          <a:ln/>
        </p:spPr>
        <p:txBody>
          <a:bodyPr wrap="square" lIns="0" tIns="0" rIns="0" bIns="0" rtlCol="0" anchor="ctr"/>
          <a:lstStyle/>
          <a:p>
            <a:pPr marL="0" indent="0">
              <a:buNone/>
            </a:pPr>
            <a:r>
              <a:rPr lang="en-US" sz="800" b="1" dirty="0">
                <a:solidFill>
                  <a:schemeClr val="bg1"/>
                </a:solidFill>
                <a:latin typeface="Calibri" pitchFamily="34" charset="0"/>
                <a:ea typeface="Calibri" pitchFamily="34" charset="-122"/>
                <a:cs typeface="Calibri" pitchFamily="34" charset="-120"/>
              </a:rPr>
              <a:t>   Lower long-run cost to city; restores tax base</a:t>
            </a:r>
            <a:endParaRPr lang="en-US" sz="800" dirty="0">
              <a:solidFill>
                <a:schemeClr val="bg1"/>
              </a:solidFill>
            </a:endParaRPr>
          </a:p>
        </p:txBody>
      </p:sp>
      <p:sp>
        <p:nvSpPr>
          <p:cNvPr id="31" name="Shape 29"/>
          <p:cNvSpPr/>
          <p:nvPr/>
        </p:nvSpPr>
        <p:spPr>
          <a:xfrm>
            <a:off x="0" y="4892040"/>
            <a:ext cx="9144000" cy="251460"/>
          </a:xfrm>
          <a:prstGeom prst="rect">
            <a:avLst/>
          </a:prstGeom>
          <a:solidFill>
            <a:srgbClr val="1A2744"/>
          </a:solidFill>
          <a:ln w="12700">
            <a:solidFill>
              <a:srgbClr val="1A2744"/>
            </a:solidFill>
            <a:prstDash val="solid"/>
          </a:ln>
        </p:spPr>
        <p:txBody>
          <a:bodyPr/>
          <a:lstStyle/>
          <a:p>
            <a:endParaRPr lang="en-US" sz="2000"/>
          </a:p>
        </p:txBody>
      </p:sp>
      <p:sp>
        <p:nvSpPr>
          <p:cNvPr id="32" name="Text 30"/>
          <p:cNvSpPr/>
          <p:nvPr/>
        </p:nvSpPr>
        <p:spPr>
          <a:xfrm>
            <a:off x="365760" y="4892040"/>
            <a:ext cx="6858000" cy="251460"/>
          </a:xfrm>
          <a:prstGeom prst="rect">
            <a:avLst/>
          </a:prstGeom>
          <a:noFill/>
          <a:ln/>
        </p:spPr>
        <p:txBody>
          <a:bodyPr wrap="square" lIns="0" tIns="0" rIns="0" bIns="0" rtlCol="0" anchor="ctr"/>
          <a:lstStyle/>
          <a:p>
            <a:pPr marL="0" indent="0">
              <a:buNone/>
            </a:pPr>
            <a:r>
              <a:rPr lang="en-US" sz="800" dirty="0">
                <a:solidFill>
                  <a:srgbClr val="8FA7CC"/>
                </a:solidFill>
                <a:latin typeface="Calibri" pitchFamily="34" charset="0"/>
                <a:ea typeface="Calibri" pitchFamily="34" charset="-122"/>
                <a:cs typeface="Calibri" pitchFamily="34" charset="-120"/>
              </a:rPr>
              <a:t>CITY OF CHICAGO  |  OFFICE OF THE MAYOR  |  CONFIDENTIAL</a:t>
            </a:r>
            <a:endParaRPr lang="en-US" sz="800" dirty="0"/>
          </a:p>
        </p:txBody>
      </p:sp>
      <p:sp>
        <p:nvSpPr>
          <p:cNvPr id="33" name="Text 31"/>
          <p:cNvSpPr/>
          <p:nvPr/>
        </p:nvSpPr>
        <p:spPr>
          <a:xfrm>
            <a:off x="8229600" y="4892040"/>
            <a:ext cx="731520" cy="251460"/>
          </a:xfrm>
          <a:prstGeom prst="rect">
            <a:avLst/>
          </a:prstGeom>
          <a:noFill/>
          <a:ln/>
        </p:spPr>
        <p:txBody>
          <a:bodyPr wrap="square" lIns="0" tIns="0" rIns="0" bIns="0" rtlCol="0" anchor="ctr"/>
          <a:lstStyle/>
          <a:p>
            <a:pPr marL="0" indent="0" algn="r">
              <a:buNone/>
            </a:pPr>
            <a:r>
              <a:rPr lang="en-US" sz="800" dirty="0">
                <a:solidFill>
                  <a:srgbClr val="8FA7CC"/>
                </a:solidFill>
                <a:latin typeface="Calibri" pitchFamily="34" charset="0"/>
                <a:ea typeface="Calibri" pitchFamily="34" charset="-122"/>
                <a:cs typeface="Calibri"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75B6"/>
          </a:solidFill>
          <a:ln w="12700">
            <a:solidFill>
              <a:srgbClr val="2E75B6"/>
            </a:solidFill>
            <a:prstDash val="solid"/>
          </a:ln>
        </p:spPr>
        <p:txBody>
          <a:bodyPr/>
          <a:lstStyle/>
          <a:p>
            <a:endParaRPr lang="en-US" sz="2000"/>
          </a:p>
        </p:txBody>
      </p:sp>
      <p:sp>
        <p:nvSpPr>
          <p:cNvPr id="3" name="Shape 1"/>
          <p:cNvSpPr/>
          <p:nvPr/>
        </p:nvSpPr>
        <p:spPr>
          <a:xfrm>
            <a:off x="0" y="0"/>
            <a:ext cx="320040" cy="5143500"/>
          </a:xfrm>
          <a:prstGeom prst="rect">
            <a:avLst/>
          </a:prstGeom>
          <a:solidFill>
            <a:srgbClr val="111C33"/>
          </a:solidFill>
          <a:ln w="12700">
            <a:solidFill>
              <a:srgbClr val="111C33"/>
            </a:solidFill>
            <a:prstDash val="solid"/>
          </a:ln>
        </p:spPr>
        <p:txBody>
          <a:bodyPr/>
          <a:lstStyle/>
          <a:p>
            <a:endParaRPr lang="en-US" sz="2000"/>
          </a:p>
        </p:txBody>
      </p:sp>
      <p:sp>
        <p:nvSpPr>
          <p:cNvPr id="4" name="Text 2"/>
          <p:cNvSpPr/>
          <p:nvPr/>
        </p:nvSpPr>
        <p:spPr>
          <a:xfrm>
            <a:off x="548640" y="320040"/>
            <a:ext cx="4572000" cy="274320"/>
          </a:xfrm>
          <a:prstGeom prst="rect">
            <a:avLst/>
          </a:prstGeom>
          <a:noFill/>
          <a:ln/>
        </p:spPr>
        <p:txBody>
          <a:bodyPr wrap="square" rtlCol="0" anchor="ctr"/>
          <a:lstStyle/>
          <a:p>
            <a:pPr marL="0" indent="0">
              <a:buNone/>
            </a:pPr>
            <a:r>
              <a:rPr lang="en-US" sz="1000" b="1" kern="0" spc="300" dirty="0">
                <a:solidFill>
                  <a:srgbClr val="8FA7CC"/>
                </a:solidFill>
                <a:latin typeface="Calibri" pitchFamily="34" charset="0"/>
                <a:ea typeface="Calibri" pitchFamily="34" charset="-122"/>
                <a:cs typeface="Calibri" pitchFamily="34" charset="-120"/>
              </a:rPr>
              <a:t>CONCLUSION</a:t>
            </a:r>
            <a:endParaRPr lang="en-US" sz="1000" dirty="0"/>
          </a:p>
        </p:txBody>
      </p:sp>
      <p:sp>
        <p:nvSpPr>
          <p:cNvPr id="5" name="Text 3"/>
          <p:cNvSpPr/>
          <p:nvPr/>
        </p:nvSpPr>
        <p:spPr>
          <a:xfrm>
            <a:off x="548640" y="658368"/>
            <a:ext cx="8229600" cy="6400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Data Gives Us the Map.</a:t>
            </a:r>
            <a:endParaRPr lang="en-US" sz="4000" dirty="0"/>
          </a:p>
        </p:txBody>
      </p:sp>
      <p:sp>
        <p:nvSpPr>
          <p:cNvPr id="6" name="Text 4"/>
          <p:cNvSpPr/>
          <p:nvPr/>
        </p:nvSpPr>
        <p:spPr>
          <a:xfrm>
            <a:off x="548640" y="1298448"/>
            <a:ext cx="8229600" cy="457200"/>
          </a:xfrm>
          <a:prstGeom prst="rect">
            <a:avLst/>
          </a:prstGeom>
          <a:noFill/>
          <a:ln/>
        </p:spPr>
        <p:txBody>
          <a:bodyPr wrap="square" rtlCol="0" anchor="ctr"/>
          <a:lstStyle/>
          <a:p>
            <a:pPr marL="0" indent="0">
              <a:buNone/>
            </a:pPr>
            <a:r>
              <a:rPr lang="en-US" sz="2000" i="1" dirty="0">
                <a:solidFill>
                  <a:srgbClr val="BDD7EE"/>
                </a:solidFill>
                <a:latin typeface="Calibri" pitchFamily="34" charset="0"/>
                <a:ea typeface="Calibri" pitchFamily="34" charset="-122"/>
                <a:cs typeface="Calibri" pitchFamily="34" charset="-120"/>
              </a:rPr>
              <a:t>What is Missing is the Will to Act Before It is Too Late.</a:t>
            </a:r>
            <a:endParaRPr lang="en-US" sz="2000" dirty="0"/>
          </a:p>
        </p:txBody>
      </p:sp>
      <p:sp>
        <p:nvSpPr>
          <p:cNvPr id="7" name="Shape 5"/>
          <p:cNvSpPr/>
          <p:nvPr/>
        </p:nvSpPr>
        <p:spPr>
          <a:xfrm>
            <a:off x="548640" y="1874520"/>
            <a:ext cx="1280160" cy="45720"/>
          </a:xfrm>
          <a:prstGeom prst="rect">
            <a:avLst/>
          </a:prstGeom>
          <a:solidFill>
            <a:srgbClr val="2E75B6"/>
          </a:solidFill>
          <a:ln w="12700">
            <a:solidFill>
              <a:srgbClr val="2E75B6"/>
            </a:solidFill>
            <a:prstDash val="solid"/>
          </a:ln>
        </p:spPr>
        <p:txBody>
          <a:bodyPr/>
          <a:lstStyle/>
          <a:p>
            <a:endParaRPr lang="en-US" sz="2000"/>
          </a:p>
        </p:txBody>
      </p:sp>
      <p:sp>
        <p:nvSpPr>
          <p:cNvPr id="8" name="Text 6"/>
          <p:cNvSpPr/>
          <p:nvPr/>
        </p:nvSpPr>
        <p:spPr>
          <a:xfrm>
            <a:off x="594360" y="2029968"/>
            <a:ext cx="7955280" cy="438912"/>
          </a:xfrm>
          <a:prstGeom prst="rect">
            <a:avLst/>
          </a:prstGeom>
          <a:noFill/>
          <a:ln/>
        </p:spPr>
        <p:txBody>
          <a:bodyPr wrap="square" rtlCol="0" anchor="ctr"/>
          <a:lstStyle/>
          <a:p>
            <a:pPr marL="0" indent="0">
              <a:lnSpc>
                <a:spcPct val="130000"/>
              </a:lnSpc>
              <a:buNone/>
            </a:pPr>
            <a:r>
              <a:rPr lang="en-US" sz="1100" dirty="0">
                <a:solidFill>
                  <a:srgbClr val="B8C8DC"/>
                </a:solidFill>
                <a:latin typeface="Calibri" pitchFamily="34" charset="0"/>
                <a:ea typeface="Calibri" pitchFamily="34" charset="-122"/>
                <a:cs typeface="Calibri" pitchFamily="34" charset="-120"/>
              </a:rPr>
              <a:t>—  Chicago loses twice on every abandoned property — once in unpaid bills, once in demolition costs.</a:t>
            </a:r>
            <a:endParaRPr lang="en-US" sz="1100" dirty="0"/>
          </a:p>
        </p:txBody>
      </p:sp>
      <p:sp>
        <p:nvSpPr>
          <p:cNvPr id="9" name="Text 7"/>
          <p:cNvSpPr/>
          <p:nvPr/>
        </p:nvSpPr>
        <p:spPr>
          <a:xfrm>
            <a:off x="594360" y="2542032"/>
            <a:ext cx="7955280" cy="438912"/>
          </a:xfrm>
          <a:prstGeom prst="rect">
            <a:avLst/>
          </a:prstGeom>
          <a:noFill/>
          <a:ln/>
        </p:spPr>
        <p:txBody>
          <a:bodyPr wrap="square" rtlCol="0" anchor="ctr"/>
          <a:lstStyle/>
          <a:p>
            <a:pPr marL="0" indent="0">
              <a:lnSpc>
                <a:spcPct val="130000"/>
              </a:lnSpc>
              <a:buNone/>
            </a:pPr>
            <a:r>
              <a:rPr lang="en-US" sz="1100" dirty="0">
                <a:solidFill>
                  <a:srgbClr val="B8C8DC"/>
                </a:solidFill>
                <a:latin typeface="Calibri" pitchFamily="34" charset="0"/>
                <a:ea typeface="Calibri" pitchFamily="34" charset="-122"/>
                <a:cs typeface="Calibri" pitchFamily="34" charset="-120"/>
              </a:rPr>
              <a:t>—  17 of 50 wards are in the Critical tier, carrying hundreds of millions in outstanding debt and tens of thousands of vacant parcels.</a:t>
            </a:r>
            <a:endParaRPr lang="en-US" sz="1100" dirty="0"/>
          </a:p>
        </p:txBody>
      </p:sp>
      <p:sp>
        <p:nvSpPr>
          <p:cNvPr id="10" name="Text 8"/>
          <p:cNvSpPr/>
          <p:nvPr/>
        </p:nvSpPr>
        <p:spPr>
          <a:xfrm>
            <a:off x="594360" y="3054096"/>
            <a:ext cx="7955280" cy="438912"/>
          </a:xfrm>
          <a:prstGeom prst="rect">
            <a:avLst/>
          </a:prstGeom>
          <a:noFill/>
          <a:ln/>
        </p:spPr>
        <p:txBody>
          <a:bodyPr wrap="square" rtlCol="0" anchor="ctr"/>
          <a:lstStyle/>
          <a:p>
            <a:pPr marL="0" indent="0">
              <a:lnSpc>
                <a:spcPct val="130000"/>
              </a:lnSpc>
              <a:buNone/>
            </a:pPr>
            <a:r>
              <a:rPr lang="en-US" sz="1100" dirty="0">
                <a:solidFill>
                  <a:srgbClr val="B8C8DC"/>
                </a:solidFill>
                <a:latin typeface="Calibri" pitchFamily="34" charset="0"/>
                <a:ea typeface="Calibri" pitchFamily="34" charset="-122"/>
                <a:cs typeface="Calibri" pitchFamily="34" charset="-120"/>
              </a:rPr>
              <a:t>—  The pipeline is still running — distress in 2026 is structural, not a 2008 hangover.</a:t>
            </a:r>
            <a:endParaRPr lang="en-US" sz="1100" dirty="0"/>
          </a:p>
        </p:txBody>
      </p:sp>
      <p:sp>
        <p:nvSpPr>
          <p:cNvPr id="11" name="Text 9"/>
          <p:cNvSpPr/>
          <p:nvPr/>
        </p:nvSpPr>
        <p:spPr>
          <a:xfrm>
            <a:off x="594360" y="3566160"/>
            <a:ext cx="7955280" cy="438912"/>
          </a:xfrm>
          <a:prstGeom prst="rect">
            <a:avLst/>
          </a:prstGeom>
          <a:noFill/>
          <a:ln/>
        </p:spPr>
        <p:txBody>
          <a:bodyPr wrap="square" rtlCol="0" anchor="ctr"/>
          <a:lstStyle/>
          <a:p>
            <a:pPr marL="0" indent="0">
              <a:lnSpc>
                <a:spcPct val="130000"/>
              </a:lnSpc>
              <a:buNone/>
            </a:pPr>
            <a:r>
              <a:rPr lang="en-US" sz="1100" dirty="0">
                <a:solidFill>
                  <a:srgbClr val="B8C8DC"/>
                </a:solidFill>
                <a:latin typeface="Calibri" pitchFamily="34" charset="0"/>
                <a:ea typeface="Calibri" pitchFamily="34" charset="-122"/>
                <a:cs typeface="Calibri" pitchFamily="34" charset="-120"/>
              </a:rPr>
              <a:t>—  The intervention points are identifiable. The policy levers exist. The parcel-level data is in hand.</a:t>
            </a:r>
            <a:endParaRPr lang="en-US" sz="1100" dirty="0"/>
          </a:p>
        </p:txBody>
      </p:sp>
      <p:sp>
        <p:nvSpPr>
          <p:cNvPr id="12" name="Text 10"/>
          <p:cNvSpPr/>
          <p:nvPr/>
        </p:nvSpPr>
        <p:spPr>
          <a:xfrm>
            <a:off x="548640" y="4480560"/>
            <a:ext cx="4572000" cy="320040"/>
          </a:xfrm>
          <a:prstGeom prst="rect">
            <a:avLst/>
          </a:prstGeom>
          <a:noFill/>
          <a:ln/>
        </p:spPr>
        <p:txBody>
          <a:bodyPr wrap="square" rtlCol="0" anchor="ctr"/>
          <a:lstStyle/>
          <a:p>
            <a:pPr marL="0" indent="0">
              <a:buNone/>
            </a:pPr>
            <a:r>
              <a:rPr lang="en-US" sz="1000" i="1" dirty="0">
                <a:solidFill>
                  <a:srgbClr val="6080A8"/>
                </a:solidFill>
                <a:latin typeface="Calibri" pitchFamily="34" charset="0"/>
                <a:ea typeface="Calibri" pitchFamily="34" charset="-122"/>
                <a:cs typeface="Calibri" pitchFamily="34" charset="-120"/>
              </a:rPr>
              <a:t>Interactive Dashboard: </a:t>
            </a:r>
            <a:r>
              <a:rPr lang="en-US" sz="1000" i="1" dirty="0">
                <a:solidFill>
                  <a:srgbClr val="6080A8"/>
                </a:solidFill>
                <a:latin typeface="Calibri" pitchFamily="34" charset="0"/>
                <a:ea typeface="Calibri" pitchFamily="34" charset="-122"/>
                <a:cs typeface="Calibri" pitchFamily="34" charset="-120"/>
                <a:hlinkClick r:id="rId3"/>
              </a:rPr>
              <a:t>wardleveldebt.streamlit.app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1515</Words>
  <Application>Microsoft Macintosh PowerPoint</Application>
  <PresentationFormat>On-screen Show (16:9)</PresentationFormat>
  <Paragraphs>187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Cycle of Disinvestment — Mayor's Office</dc:title>
  <dc:subject>PptxGenJS Presentation</dc:subject>
  <dc:creator>PptxGenJS</dc:creator>
  <cp:lastModifiedBy>Taha Rashid</cp:lastModifiedBy>
  <cp:revision>1</cp:revision>
  <dcterms:created xsi:type="dcterms:W3CDTF">2026-03-09T17:00:22Z</dcterms:created>
  <dcterms:modified xsi:type="dcterms:W3CDTF">2026-03-18T19:49:28Z</dcterms:modified>
</cp:coreProperties>
</file>